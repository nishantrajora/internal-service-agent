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ptos Bold" panose="020B0604020202020204" charset="0"/>
      <p:regular r:id="rId12"/>
    </p:embeddedFont>
    <p:embeddedFont>
      <p:font typeface="Calibri (MS)" panose="020B0604020202020204" charset="0"/>
      <p:regular r:id="rId13"/>
    </p:embeddedFont>
    <p:embeddedFont>
      <p:font typeface="Calibri (MS)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23539"/>
            <a:chOff x="0" y="0"/>
            <a:chExt cx="24402453" cy="164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64719"/>
            </a:xfrm>
            <a:custGeom>
              <a:avLst/>
              <a:gdLst/>
              <a:ahLst/>
              <a:cxnLst/>
              <a:rect l="l" t="t" r="r" b="b"/>
              <a:pathLst>
                <a:path w="24402414" h="164719">
                  <a:moveTo>
                    <a:pt x="0" y="0"/>
                  </a:moveTo>
                  <a:lnTo>
                    <a:pt x="24402414" y="0"/>
                  </a:lnTo>
                  <a:lnTo>
                    <a:pt x="24402414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4824862" y="960872"/>
            <a:ext cx="1372676" cy="1372676"/>
            <a:chOff x="0" y="0"/>
            <a:chExt cx="1830235" cy="18302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30197" cy="1830197"/>
            </a:xfrm>
            <a:custGeom>
              <a:avLst/>
              <a:gdLst/>
              <a:ahLst/>
              <a:cxnLst/>
              <a:rect l="l" t="t" r="r" b="b"/>
              <a:pathLst>
                <a:path w="1830197" h="1830197">
                  <a:moveTo>
                    <a:pt x="0" y="305054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1525143" y="0"/>
                  </a:lnTo>
                  <a:cubicBezTo>
                    <a:pt x="1693672" y="0"/>
                    <a:pt x="1830197" y="136525"/>
                    <a:pt x="1830197" y="305054"/>
                  </a:cubicBezTo>
                  <a:lnTo>
                    <a:pt x="1830197" y="1525143"/>
                  </a:lnTo>
                  <a:cubicBezTo>
                    <a:pt x="1830197" y="1693672"/>
                    <a:pt x="1693672" y="1830197"/>
                    <a:pt x="1525143" y="1830197"/>
                  </a:cubicBezTo>
                  <a:lnTo>
                    <a:pt x="305054" y="1830197"/>
                  </a:lnTo>
                  <a:cubicBezTo>
                    <a:pt x="136525" y="1830197"/>
                    <a:pt x="0" y="1693672"/>
                    <a:pt x="0" y="1525143"/>
                  </a:cubicBezTo>
                  <a:close/>
                </a:path>
              </a:pathLst>
            </a:custGeom>
            <a:solidFill>
              <a:srgbClr val="06B6D4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5991637" y="2059010"/>
            <a:ext cx="892235" cy="892235"/>
            <a:chOff x="0" y="0"/>
            <a:chExt cx="1189647" cy="11896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89609" cy="1189609"/>
            </a:xfrm>
            <a:custGeom>
              <a:avLst/>
              <a:gdLst/>
              <a:ahLst/>
              <a:cxnLst/>
              <a:rect l="l" t="t" r="r" b="b"/>
              <a:pathLst>
                <a:path w="1189609" h="1189609">
                  <a:moveTo>
                    <a:pt x="0" y="198247"/>
                  </a:moveTo>
                  <a:cubicBezTo>
                    <a:pt x="0" y="88773"/>
                    <a:pt x="88773" y="0"/>
                    <a:pt x="198247" y="0"/>
                  </a:cubicBezTo>
                  <a:lnTo>
                    <a:pt x="991362" y="0"/>
                  </a:lnTo>
                  <a:cubicBezTo>
                    <a:pt x="1100836" y="0"/>
                    <a:pt x="1189609" y="88773"/>
                    <a:pt x="1189609" y="198247"/>
                  </a:cubicBezTo>
                  <a:lnTo>
                    <a:pt x="1189609" y="991362"/>
                  </a:lnTo>
                  <a:cubicBezTo>
                    <a:pt x="1189609" y="1100836"/>
                    <a:pt x="1100836" y="1189609"/>
                    <a:pt x="991362" y="1189609"/>
                  </a:cubicBezTo>
                  <a:lnTo>
                    <a:pt x="198247" y="1189609"/>
                  </a:lnTo>
                  <a:cubicBezTo>
                    <a:pt x="88773" y="1189609"/>
                    <a:pt x="0" y="1100836"/>
                    <a:pt x="0" y="991362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4481696" y="2745343"/>
            <a:ext cx="686333" cy="686333"/>
            <a:chOff x="0" y="0"/>
            <a:chExt cx="915111" cy="91511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5162" cy="915162"/>
            </a:xfrm>
            <a:custGeom>
              <a:avLst/>
              <a:gdLst/>
              <a:ahLst/>
              <a:cxnLst/>
              <a:rect l="l" t="t" r="r" b="b"/>
              <a:pathLst>
                <a:path w="915162" h="915162">
                  <a:moveTo>
                    <a:pt x="0" y="152527"/>
                  </a:moveTo>
                  <a:cubicBezTo>
                    <a:pt x="0" y="68326"/>
                    <a:pt x="68326" y="0"/>
                    <a:pt x="152527" y="0"/>
                  </a:cubicBezTo>
                  <a:lnTo>
                    <a:pt x="762635" y="0"/>
                  </a:lnTo>
                  <a:cubicBezTo>
                    <a:pt x="846836" y="0"/>
                    <a:pt x="915162" y="68326"/>
                    <a:pt x="915162" y="152527"/>
                  </a:cubicBezTo>
                  <a:lnTo>
                    <a:pt x="915162" y="762635"/>
                  </a:lnTo>
                  <a:cubicBezTo>
                    <a:pt x="915162" y="846836"/>
                    <a:pt x="846836" y="915162"/>
                    <a:pt x="762635" y="915162"/>
                  </a:cubicBezTo>
                  <a:lnTo>
                    <a:pt x="152527" y="915162"/>
                  </a:lnTo>
                  <a:cubicBezTo>
                    <a:pt x="68326" y="915162"/>
                    <a:pt x="0" y="846836"/>
                    <a:pt x="0" y="762635"/>
                  </a:cubicBezTo>
                  <a:close/>
                </a:path>
              </a:pathLst>
            </a:custGeom>
            <a:solidFill>
              <a:srgbClr val="10B981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120940" y="1898828"/>
            <a:ext cx="13132041" cy="1830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1" dirty="0">
                <a:solidFill>
                  <a:srgbClr val="2563EB"/>
                </a:solidFill>
                <a:latin typeface="Aptos Bold"/>
                <a:ea typeface="Aptos Bold"/>
                <a:cs typeface="Aptos Bold"/>
                <a:sym typeface="Aptos Bold"/>
              </a:rPr>
              <a:t>Veridian Corp</a:t>
            </a:r>
          </a:p>
          <a:p>
            <a:pPr algn="l">
              <a:lnSpc>
                <a:spcPts val="7565"/>
              </a:lnSpc>
            </a:pPr>
            <a:r>
              <a:rPr lang="en-US" sz="6304" b="1" dirty="0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AI IT Support Agent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5491" y="3804652"/>
            <a:ext cx="11759365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dirty="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Nishant Rajora </a:t>
            </a:r>
          </a:p>
          <a:p>
            <a:pPr algn="l">
              <a:lnSpc>
                <a:spcPts val="3242"/>
              </a:lnSpc>
            </a:pPr>
            <a:r>
              <a:rPr lang="en-US" sz="2702" dirty="0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23csu220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63533" y="5963974"/>
            <a:ext cx="4887287" cy="1730140"/>
            <a:chOff x="0" y="0"/>
            <a:chExt cx="6516383" cy="230685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516370" cy="2306828"/>
            </a:xfrm>
            <a:custGeom>
              <a:avLst/>
              <a:gdLst/>
              <a:ahLst/>
              <a:cxnLst/>
              <a:rect l="l" t="t" r="r" b="b"/>
              <a:pathLst>
                <a:path w="6516370" h="2306828">
                  <a:moveTo>
                    <a:pt x="0" y="384429"/>
                  </a:moveTo>
                  <a:cubicBezTo>
                    <a:pt x="0" y="172085"/>
                    <a:pt x="172085" y="0"/>
                    <a:pt x="384429" y="0"/>
                  </a:cubicBezTo>
                  <a:lnTo>
                    <a:pt x="6131941" y="0"/>
                  </a:lnTo>
                  <a:cubicBezTo>
                    <a:pt x="6344285" y="0"/>
                    <a:pt x="6516370" y="172085"/>
                    <a:pt x="6516370" y="384429"/>
                  </a:cubicBezTo>
                  <a:lnTo>
                    <a:pt x="6516370" y="1922399"/>
                  </a:lnTo>
                  <a:cubicBezTo>
                    <a:pt x="6516370" y="2134743"/>
                    <a:pt x="6344285" y="2306828"/>
                    <a:pt x="6131941" y="2306828"/>
                  </a:cubicBezTo>
                  <a:lnTo>
                    <a:pt x="384429" y="2306828"/>
                  </a:lnTo>
                  <a:cubicBezTo>
                    <a:pt x="172085" y="2306828"/>
                    <a:pt x="0" y="2134743"/>
                    <a:pt x="0" y="1922399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070686" y="5971127"/>
            <a:ext cx="96088" cy="1715843"/>
            <a:chOff x="0" y="0"/>
            <a:chExt cx="128118" cy="228779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8143" cy="2287778"/>
            </a:xfrm>
            <a:custGeom>
              <a:avLst/>
              <a:gdLst/>
              <a:ahLst/>
              <a:cxnLst/>
              <a:rect l="l" t="t" r="r" b="b"/>
              <a:pathLst>
                <a:path w="128143" h="2287778">
                  <a:moveTo>
                    <a:pt x="0" y="0"/>
                  </a:moveTo>
                  <a:lnTo>
                    <a:pt x="128143" y="0"/>
                  </a:lnTo>
                  <a:lnTo>
                    <a:pt x="128143" y="2287778"/>
                  </a:lnTo>
                  <a:lnTo>
                    <a:pt x="0" y="2287778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1464116" y="6236475"/>
            <a:ext cx="4141041" cy="38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1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Working Prototype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64116" y="6812994"/>
            <a:ext cx="4113581" cy="636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Full-stack web application with Support, My Tickets and Admin views.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238513" y="5963974"/>
            <a:ext cx="4887287" cy="1730140"/>
            <a:chOff x="0" y="0"/>
            <a:chExt cx="6516383" cy="230685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516370" cy="2306828"/>
            </a:xfrm>
            <a:custGeom>
              <a:avLst/>
              <a:gdLst/>
              <a:ahLst/>
              <a:cxnLst/>
              <a:rect l="l" t="t" r="r" b="b"/>
              <a:pathLst>
                <a:path w="6516370" h="2306828">
                  <a:moveTo>
                    <a:pt x="0" y="384429"/>
                  </a:moveTo>
                  <a:cubicBezTo>
                    <a:pt x="0" y="172085"/>
                    <a:pt x="172085" y="0"/>
                    <a:pt x="384429" y="0"/>
                  </a:cubicBezTo>
                  <a:lnTo>
                    <a:pt x="6131941" y="0"/>
                  </a:lnTo>
                  <a:cubicBezTo>
                    <a:pt x="6344285" y="0"/>
                    <a:pt x="6516370" y="172085"/>
                    <a:pt x="6516370" y="384429"/>
                  </a:cubicBezTo>
                  <a:lnTo>
                    <a:pt x="6516370" y="1922399"/>
                  </a:lnTo>
                  <a:cubicBezTo>
                    <a:pt x="6516370" y="2134743"/>
                    <a:pt x="6344285" y="2306828"/>
                    <a:pt x="6131941" y="2306828"/>
                  </a:cubicBezTo>
                  <a:lnTo>
                    <a:pt x="384429" y="2306828"/>
                  </a:lnTo>
                  <a:cubicBezTo>
                    <a:pt x="172085" y="2306828"/>
                    <a:pt x="0" y="2134743"/>
                    <a:pt x="0" y="1922399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6245657" y="5971127"/>
            <a:ext cx="96088" cy="1715843"/>
            <a:chOff x="0" y="0"/>
            <a:chExt cx="128118" cy="228779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8143" cy="2287778"/>
            </a:xfrm>
            <a:custGeom>
              <a:avLst/>
              <a:gdLst/>
              <a:ahLst/>
              <a:cxnLst/>
              <a:rect l="l" t="t" r="r" b="b"/>
              <a:pathLst>
                <a:path w="128143" h="2287778">
                  <a:moveTo>
                    <a:pt x="0" y="0"/>
                  </a:moveTo>
                  <a:lnTo>
                    <a:pt x="128143" y="0"/>
                  </a:lnTo>
                  <a:lnTo>
                    <a:pt x="128143" y="2287778"/>
                  </a:lnTo>
                  <a:lnTo>
                    <a:pt x="0" y="2287778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6639087" y="6236475"/>
            <a:ext cx="4141041" cy="38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1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AI Core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39087" y="6812994"/>
            <a:ext cx="4113581" cy="636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Ollama + gpt-oss:20b with classify → retrieve → decide → respond.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1413484" y="5963974"/>
            <a:ext cx="4887287" cy="1730140"/>
            <a:chOff x="0" y="0"/>
            <a:chExt cx="6516383" cy="230685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516370" cy="2306828"/>
            </a:xfrm>
            <a:custGeom>
              <a:avLst/>
              <a:gdLst/>
              <a:ahLst/>
              <a:cxnLst/>
              <a:rect l="l" t="t" r="r" b="b"/>
              <a:pathLst>
                <a:path w="6516370" h="2306828">
                  <a:moveTo>
                    <a:pt x="0" y="384429"/>
                  </a:moveTo>
                  <a:cubicBezTo>
                    <a:pt x="0" y="172085"/>
                    <a:pt x="172085" y="0"/>
                    <a:pt x="384429" y="0"/>
                  </a:cubicBezTo>
                  <a:lnTo>
                    <a:pt x="6131941" y="0"/>
                  </a:lnTo>
                  <a:cubicBezTo>
                    <a:pt x="6344285" y="0"/>
                    <a:pt x="6516370" y="172085"/>
                    <a:pt x="6516370" y="384429"/>
                  </a:cubicBezTo>
                  <a:lnTo>
                    <a:pt x="6516370" y="1922399"/>
                  </a:lnTo>
                  <a:cubicBezTo>
                    <a:pt x="6516370" y="2134743"/>
                    <a:pt x="6344285" y="2306828"/>
                    <a:pt x="6131941" y="2306828"/>
                  </a:cubicBezTo>
                  <a:lnTo>
                    <a:pt x="384429" y="2306828"/>
                  </a:lnTo>
                  <a:cubicBezTo>
                    <a:pt x="172085" y="2306828"/>
                    <a:pt x="0" y="2134743"/>
                    <a:pt x="0" y="1922399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id="30" name="TextBox 30"/>
          <p:cNvSpPr txBox="1"/>
          <p:nvPr/>
        </p:nvSpPr>
        <p:spPr>
          <a:xfrm>
            <a:off x="1189577" y="8851830"/>
            <a:ext cx="10798502" cy="505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47556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AIONOS Recruitment — Assignment 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6288979" y="9735664"/>
            <a:ext cx="915257" cy="280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1">
                <a:solidFill>
                  <a:srgbClr val="47556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23539"/>
            <a:chOff x="0" y="0"/>
            <a:chExt cx="24402453" cy="164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64719"/>
            </a:xfrm>
            <a:custGeom>
              <a:avLst/>
              <a:gdLst/>
              <a:ahLst/>
              <a:cxnLst/>
              <a:rect l="l" t="t" r="r" b="b"/>
              <a:pathLst>
                <a:path w="24402414" h="164719">
                  <a:moveTo>
                    <a:pt x="0" y="0"/>
                  </a:moveTo>
                  <a:lnTo>
                    <a:pt x="24402414" y="0"/>
                  </a:lnTo>
                  <a:lnTo>
                    <a:pt x="24402414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983675" y="484975"/>
            <a:ext cx="16289188" cy="800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1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Problem &amp; Objective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4861" y="1308583"/>
            <a:ext cx="16014659" cy="457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Internal IT support requests require consistent policy handling, triage and escalation.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53719" y="2120494"/>
            <a:ext cx="5161817" cy="6397228"/>
            <a:chOff x="0" y="0"/>
            <a:chExt cx="6882422" cy="85296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882384" cy="8529574"/>
            </a:xfrm>
            <a:custGeom>
              <a:avLst/>
              <a:gdLst/>
              <a:ahLst/>
              <a:cxnLst/>
              <a:rect l="l" t="t" r="r" b="b"/>
              <a:pathLst>
                <a:path w="6882384" h="8529574">
                  <a:moveTo>
                    <a:pt x="0" y="1147064"/>
                  </a:moveTo>
                  <a:cubicBezTo>
                    <a:pt x="0" y="513588"/>
                    <a:pt x="513588" y="0"/>
                    <a:pt x="1147064" y="0"/>
                  </a:cubicBezTo>
                  <a:lnTo>
                    <a:pt x="5735320" y="0"/>
                  </a:lnTo>
                  <a:cubicBezTo>
                    <a:pt x="6368796" y="0"/>
                    <a:pt x="6882384" y="513588"/>
                    <a:pt x="6882384" y="1147064"/>
                  </a:cubicBezTo>
                  <a:lnTo>
                    <a:pt x="6882384" y="7382510"/>
                  </a:lnTo>
                  <a:cubicBezTo>
                    <a:pt x="6882384" y="8015986"/>
                    <a:pt x="6368796" y="8529574"/>
                    <a:pt x="5735320" y="8529574"/>
                  </a:cubicBezTo>
                  <a:lnTo>
                    <a:pt x="1147064" y="8529574"/>
                  </a:lnTo>
                  <a:cubicBezTo>
                    <a:pt x="513588" y="8529574"/>
                    <a:pt x="0" y="8016113"/>
                    <a:pt x="0" y="738251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960872" y="2127647"/>
            <a:ext cx="96088" cy="6382931"/>
            <a:chOff x="0" y="0"/>
            <a:chExt cx="128118" cy="85105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8143" cy="8510524"/>
            </a:xfrm>
            <a:custGeom>
              <a:avLst/>
              <a:gdLst/>
              <a:ahLst/>
              <a:cxnLst/>
              <a:rect l="l" t="t" r="r" b="b"/>
              <a:pathLst>
                <a:path w="128143" h="8510524">
                  <a:moveTo>
                    <a:pt x="0" y="0"/>
                  </a:moveTo>
                  <a:lnTo>
                    <a:pt x="128143" y="0"/>
                  </a:lnTo>
                  <a:lnTo>
                    <a:pt x="128143" y="8510524"/>
                  </a:lnTo>
                  <a:lnTo>
                    <a:pt x="0" y="8510524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354293" y="2392994"/>
            <a:ext cx="4415571" cy="38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1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The support problem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54293" y="2969514"/>
            <a:ext cx="4388120" cy="5303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Employees raise repetitive requests across access, hardware, software, email, printers and security. The prototype focuses on first-line handling while preserving a path to human review.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581680" y="2120494"/>
            <a:ext cx="5161817" cy="6397228"/>
            <a:chOff x="0" y="0"/>
            <a:chExt cx="6882422" cy="852963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882384" cy="8529574"/>
            </a:xfrm>
            <a:custGeom>
              <a:avLst/>
              <a:gdLst/>
              <a:ahLst/>
              <a:cxnLst/>
              <a:rect l="l" t="t" r="r" b="b"/>
              <a:pathLst>
                <a:path w="6882384" h="8529574">
                  <a:moveTo>
                    <a:pt x="0" y="1147064"/>
                  </a:moveTo>
                  <a:cubicBezTo>
                    <a:pt x="0" y="513588"/>
                    <a:pt x="513588" y="0"/>
                    <a:pt x="1147064" y="0"/>
                  </a:cubicBezTo>
                  <a:lnTo>
                    <a:pt x="5735320" y="0"/>
                  </a:lnTo>
                  <a:cubicBezTo>
                    <a:pt x="6368796" y="0"/>
                    <a:pt x="6882384" y="513588"/>
                    <a:pt x="6882384" y="1147064"/>
                  </a:cubicBezTo>
                  <a:lnTo>
                    <a:pt x="6882384" y="7382510"/>
                  </a:lnTo>
                  <a:cubicBezTo>
                    <a:pt x="6882384" y="8015986"/>
                    <a:pt x="6368796" y="8529574"/>
                    <a:pt x="5735320" y="8529574"/>
                  </a:cubicBezTo>
                  <a:lnTo>
                    <a:pt x="1147064" y="8529574"/>
                  </a:lnTo>
                  <a:cubicBezTo>
                    <a:pt x="513588" y="8529574"/>
                    <a:pt x="0" y="8016113"/>
                    <a:pt x="0" y="738251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588824" y="2127647"/>
            <a:ext cx="96088" cy="6382931"/>
            <a:chOff x="0" y="0"/>
            <a:chExt cx="128118" cy="851057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8143" cy="8510524"/>
            </a:xfrm>
            <a:custGeom>
              <a:avLst/>
              <a:gdLst/>
              <a:ahLst/>
              <a:cxnLst/>
              <a:rect l="l" t="t" r="r" b="b"/>
              <a:pathLst>
                <a:path w="128143" h="8510524">
                  <a:moveTo>
                    <a:pt x="0" y="0"/>
                  </a:moveTo>
                  <a:lnTo>
                    <a:pt x="128143" y="0"/>
                  </a:lnTo>
                  <a:lnTo>
                    <a:pt x="128143" y="8510524"/>
                  </a:lnTo>
                  <a:lnTo>
                    <a:pt x="0" y="8510524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6982254" y="2392994"/>
            <a:ext cx="4415571" cy="38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1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What the agent does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982254" y="2969514"/>
            <a:ext cx="4388120" cy="5303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• Classifies the request into an IT category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• Retrieves the relevant company policy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• Uses historical tickets as precedent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• Decides: resolve, follow up or create a ticket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• Generates an employee-facing response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2209631" y="2120494"/>
            <a:ext cx="5161817" cy="6397228"/>
            <a:chOff x="0" y="0"/>
            <a:chExt cx="6882422" cy="852963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882384" cy="8529574"/>
            </a:xfrm>
            <a:custGeom>
              <a:avLst/>
              <a:gdLst/>
              <a:ahLst/>
              <a:cxnLst/>
              <a:rect l="l" t="t" r="r" b="b"/>
              <a:pathLst>
                <a:path w="6882384" h="8529574">
                  <a:moveTo>
                    <a:pt x="0" y="1147064"/>
                  </a:moveTo>
                  <a:cubicBezTo>
                    <a:pt x="0" y="513588"/>
                    <a:pt x="513588" y="0"/>
                    <a:pt x="1147064" y="0"/>
                  </a:cubicBezTo>
                  <a:lnTo>
                    <a:pt x="5735320" y="0"/>
                  </a:lnTo>
                  <a:cubicBezTo>
                    <a:pt x="6368796" y="0"/>
                    <a:pt x="6882384" y="513588"/>
                    <a:pt x="6882384" y="1147064"/>
                  </a:cubicBezTo>
                  <a:lnTo>
                    <a:pt x="6882384" y="7382510"/>
                  </a:lnTo>
                  <a:cubicBezTo>
                    <a:pt x="6882384" y="8015986"/>
                    <a:pt x="6368796" y="8529574"/>
                    <a:pt x="5735320" y="8529574"/>
                  </a:cubicBezTo>
                  <a:lnTo>
                    <a:pt x="1147064" y="8529574"/>
                  </a:lnTo>
                  <a:cubicBezTo>
                    <a:pt x="513588" y="8529574"/>
                    <a:pt x="0" y="8016113"/>
                    <a:pt x="0" y="738251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12216784" y="2127647"/>
            <a:ext cx="96088" cy="6382931"/>
            <a:chOff x="0" y="0"/>
            <a:chExt cx="128118" cy="851057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8143" cy="8510524"/>
            </a:xfrm>
            <a:custGeom>
              <a:avLst/>
              <a:gdLst/>
              <a:ahLst/>
              <a:cxnLst/>
              <a:rect l="l" t="t" r="r" b="b"/>
              <a:pathLst>
                <a:path w="128143" h="8510524">
                  <a:moveTo>
                    <a:pt x="0" y="0"/>
                  </a:moveTo>
                  <a:lnTo>
                    <a:pt x="128143" y="0"/>
                  </a:lnTo>
                  <a:lnTo>
                    <a:pt x="128143" y="8510524"/>
                  </a:lnTo>
                  <a:lnTo>
                    <a:pt x="0" y="8510524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12610214" y="2392994"/>
            <a:ext cx="4415571" cy="38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1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Design objectives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610214" y="2969514"/>
            <a:ext cx="4388120" cy="5303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• Ground responses in the provided policy set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• Automate simple self-service guidance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• Route cases requiring human action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• Persist tickets and audit information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• Provide an accessible browser prototype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288979" y="9735664"/>
            <a:ext cx="915257" cy="280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1">
                <a:solidFill>
                  <a:srgbClr val="47556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23539"/>
            <a:chOff x="0" y="0"/>
            <a:chExt cx="24402453" cy="164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64719"/>
            </a:xfrm>
            <a:custGeom>
              <a:avLst/>
              <a:gdLst/>
              <a:ahLst/>
              <a:cxnLst/>
              <a:rect l="l" t="t" r="r" b="b"/>
              <a:pathLst>
                <a:path w="24402414" h="164719">
                  <a:moveTo>
                    <a:pt x="0" y="0"/>
                  </a:moveTo>
                  <a:lnTo>
                    <a:pt x="24402414" y="0"/>
                  </a:lnTo>
                  <a:lnTo>
                    <a:pt x="24402414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983675" y="484975"/>
            <a:ext cx="16289188" cy="800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1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Solution Overview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4861" y="1308583"/>
            <a:ext cx="16014659" cy="457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A grounded AI support agent connects the employee UI, policy knowledge and ticket workflow.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877938" y="3486017"/>
            <a:ext cx="2430770" cy="1401270"/>
            <a:chOff x="0" y="0"/>
            <a:chExt cx="3241027" cy="186836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241040" cy="1868424"/>
            </a:xfrm>
            <a:custGeom>
              <a:avLst/>
              <a:gdLst/>
              <a:ahLst/>
              <a:cxnLst/>
              <a:rect l="l" t="t" r="r" b="b"/>
              <a:pathLst>
                <a:path w="3241040" h="1868424">
                  <a:moveTo>
                    <a:pt x="0" y="311404"/>
                  </a:moveTo>
                  <a:cubicBezTo>
                    <a:pt x="0" y="139446"/>
                    <a:pt x="139446" y="0"/>
                    <a:pt x="311404" y="0"/>
                  </a:cubicBezTo>
                  <a:lnTo>
                    <a:pt x="2929636" y="0"/>
                  </a:lnTo>
                  <a:cubicBezTo>
                    <a:pt x="3101594" y="0"/>
                    <a:pt x="3241040" y="139446"/>
                    <a:pt x="3241040" y="311404"/>
                  </a:cubicBezTo>
                  <a:lnTo>
                    <a:pt x="3241040" y="1557020"/>
                  </a:lnTo>
                  <a:cubicBezTo>
                    <a:pt x="3241040" y="1728978"/>
                    <a:pt x="3101594" y="1868424"/>
                    <a:pt x="2929636" y="1868424"/>
                  </a:cubicBezTo>
                  <a:lnTo>
                    <a:pt x="311404" y="1868424"/>
                  </a:lnTo>
                  <a:cubicBezTo>
                    <a:pt x="139446" y="1868297"/>
                    <a:pt x="0" y="1728978"/>
                    <a:pt x="0" y="1557020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02049" y="3568951"/>
            <a:ext cx="2182549" cy="1235402"/>
            <a:chOff x="0" y="0"/>
            <a:chExt cx="2910065" cy="164720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910066" cy="1647207"/>
            </a:xfrm>
            <a:custGeom>
              <a:avLst/>
              <a:gdLst/>
              <a:ahLst/>
              <a:cxnLst/>
              <a:rect l="l" t="t" r="r" b="b"/>
              <a:pathLst>
                <a:path w="2910066" h="1647207">
                  <a:moveTo>
                    <a:pt x="0" y="0"/>
                  </a:moveTo>
                  <a:lnTo>
                    <a:pt x="2910066" y="0"/>
                  </a:lnTo>
                  <a:lnTo>
                    <a:pt x="2910066" y="1647207"/>
                  </a:lnTo>
                  <a:lnTo>
                    <a:pt x="0" y="164720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624" r="-22624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2910065" cy="16472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Employee</a:t>
              </a:r>
            </a:p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Request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760546" y="3486017"/>
            <a:ext cx="2430770" cy="1401270"/>
            <a:chOff x="0" y="0"/>
            <a:chExt cx="3241027" cy="18683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241040" cy="1868424"/>
            </a:xfrm>
            <a:custGeom>
              <a:avLst/>
              <a:gdLst/>
              <a:ahLst/>
              <a:cxnLst/>
              <a:rect l="l" t="t" r="r" b="b"/>
              <a:pathLst>
                <a:path w="3241040" h="1868424">
                  <a:moveTo>
                    <a:pt x="0" y="311404"/>
                  </a:moveTo>
                  <a:cubicBezTo>
                    <a:pt x="0" y="139446"/>
                    <a:pt x="139446" y="0"/>
                    <a:pt x="311404" y="0"/>
                  </a:cubicBezTo>
                  <a:lnTo>
                    <a:pt x="2929636" y="0"/>
                  </a:lnTo>
                  <a:cubicBezTo>
                    <a:pt x="3101594" y="0"/>
                    <a:pt x="3241040" y="139446"/>
                    <a:pt x="3241040" y="311404"/>
                  </a:cubicBezTo>
                  <a:lnTo>
                    <a:pt x="3241040" y="1557020"/>
                  </a:lnTo>
                  <a:cubicBezTo>
                    <a:pt x="3241040" y="1728978"/>
                    <a:pt x="3101594" y="1868424"/>
                    <a:pt x="2929636" y="1868424"/>
                  </a:cubicBezTo>
                  <a:lnTo>
                    <a:pt x="311404" y="1868424"/>
                  </a:lnTo>
                  <a:cubicBezTo>
                    <a:pt x="139446" y="1868297"/>
                    <a:pt x="0" y="1728978"/>
                    <a:pt x="0" y="1557020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06B6D4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884666" y="3568951"/>
            <a:ext cx="2182549" cy="1235402"/>
            <a:chOff x="0" y="0"/>
            <a:chExt cx="2910065" cy="164720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910066" cy="1647207"/>
            </a:xfrm>
            <a:custGeom>
              <a:avLst/>
              <a:gdLst/>
              <a:ahLst/>
              <a:cxnLst/>
              <a:rect l="l" t="t" r="r" b="b"/>
              <a:pathLst>
                <a:path w="2910066" h="1647207">
                  <a:moveTo>
                    <a:pt x="0" y="0"/>
                  </a:moveTo>
                  <a:lnTo>
                    <a:pt x="2910066" y="0"/>
                  </a:lnTo>
                  <a:lnTo>
                    <a:pt x="2910066" y="1647207"/>
                  </a:lnTo>
                  <a:lnTo>
                    <a:pt x="0" y="164720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624" r="-22624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2910065" cy="16472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FastAPI</a:t>
              </a:r>
            </a:p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Controller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643164" y="3486017"/>
            <a:ext cx="2430770" cy="1401270"/>
            <a:chOff x="0" y="0"/>
            <a:chExt cx="3241027" cy="18683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241040" cy="1868424"/>
            </a:xfrm>
            <a:custGeom>
              <a:avLst/>
              <a:gdLst/>
              <a:ahLst/>
              <a:cxnLst/>
              <a:rect l="l" t="t" r="r" b="b"/>
              <a:pathLst>
                <a:path w="3241040" h="1868424">
                  <a:moveTo>
                    <a:pt x="0" y="311404"/>
                  </a:moveTo>
                  <a:cubicBezTo>
                    <a:pt x="0" y="139446"/>
                    <a:pt x="139446" y="0"/>
                    <a:pt x="311404" y="0"/>
                  </a:cubicBezTo>
                  <a:lnTo>
                    <a:pt x="2929636" y="0"/>
                  </a:lnTo>
                  <a:cubicBezTo>
                    <a:pt x="3101594" y="0"/>
                    <a:pt x="3241040" y="139446"/>
                    <a:pt x="3241040" y="311404"/>
                  </a:cubicBezTo>
                  <a:lnTo>
                    <a:pt x="3241040" y="1557020"/>
                  </a:lnTo>
                  <a:cubicBezTo>
                    <a:pt x="3241040" y="1728978"/>
                    <a:pt x="3101594" y="1868424"/>
                    <a:pt x="2929636" y="1868424"/>
                  </a:cubicBezTo>
                  <a:lnTo>
                    <a:pt x="311404" y="1868424"/>
                  </a:lnTo>
                  <a:cubicBezTo>
                    <a:pt x="139446" y="1868297"/>
                    <a:pt x="0" y="1728978"/>
                    <a:pt x="0" y="1557020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6767274" y="3568951"/>
            <a:ext cx="2182549" cy="1235402"/>
            <a:chOff x="0" y="0"/>
            <a:chExt cx="2910065" cy="164720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910066" cy="1647207"/>
            </a:xfrm>
            <a:custGeom>
              <a:avLst/>
              <a:gdLst/>
              <a:ahLst/>
              <a:cxnLst/>
              <a:rect l="l" t="t" r="r" b="b"/>
              <a:pathLst>
                <a:path w="2910066" h="1647207">
                  <a:moveTo>
                    <a:pt x="0" y="0"/>
                  </a:moveTo>
                  <a:lnTo>
                    <a:pt x="2910066" y="0"/>
                  </a:lnTo>
                  <a:lnTo>
                    <a:pt x="2910066" y="1647207"/>
                  </a:lnTo>
                  <a:lnTo>
                    <a:pt x="0" y="164720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624" r="-22624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2910065" cy="16472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AI Agent</a:t>
              </a:r>
            </a:p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agent.py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525772" y="3486017"/>
            <a:ext cx="2430770" cy="1401270"/>
            <a:chOff x="0" y="0"/>
            <a:chExt cx="3241027" cy="186836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241040" cy="1868424"/>
            </a:xfrm>
            <a:custGeom>
              <a:avLst/>
              <a:gdLst/>
              <a:ahLst/>
              <a:cxnLst/>
              <a:rect l="l" t="t" r="r" b="b"/>
              <a:pathLst>
                <a:path w="3241040" h="1868424">
                  <a:moveTo>
                    <a:pt x="0" y="311404"/>
                  </a:moveTo>
                  <a:cubicBezTo>
                    <a:pt x="0" y="139446"/>
                    <a:pt x="139446" y="0"/>
                    <a:pt x="311404" y="0"/>
                  </a:cubicBezTo>
                  <a:lnTo>
                    <a:pt x="2929636" y="0"/>
                  </a:lnTo>
                  <a:cubicBezTo>
                    <a:pt x="3101594" y="0"/>
                    <a:pt x="3241040" y="139446"/>
                    <a:pt x="3241040" y="311404"/>
                  </a:cubicBezTo>
                  <a:lnTo>
                    <a:pt x="3241040" y="1557020"/>
                  </a:lnTo>
                  <a:cubicBezTo>
                    <a:pt x="3241040" y="1728978"/>
                    <a:pt x="3101594" y="1868424"/>
                    <a:pt x="2929636" y="1868424"/>
                  </a:cubicBezTo>
                  <a:lnTo>
                    <a:pt x="311404" y="1868424"/>
                  </a:lnTo>
                  <a:cubicBezTo>
                    <a:pt x="139446" y="1868297"/>
                    <a:pt x="0" y="1728978"/>
                    <a:pt x="0" y="1557020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9649882" y="3568951"/>
            <a:ext cx="2182549" cy="1235402"/>
            <a:chOff x="0" y="0"/>
            <a:chExt cx="2910065" cy="164720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910066" cy="1647207"/>
            </a:xfrm>
            <a:custGeom>
              <a:avLst/>
              <a:gdLst/>
              <a:ahLst/>
              <a:cxnLst/>
              <a:rect l="l" t="t" r="r" b="b"/>
              <a:pathLst>
                <a:path w="2910066" h="1647207">
                  <a:moveTo>
                    <a:pt x="0" y="0"/>
                  </a:moveTo>
                  <a:lnTo>
                    <a:pt x="2910066" y="0"/>
                  </a:lnTo>
                  <a:lnTo>
                    <a:pt x="2910066" y="1647207"/>
                  </a:lnTo>
                  <a:lnTo>
                    <a:pt x="0" y="164720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624" r="-22624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2910065" cy="16472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Policy</a:t>
              </a:r>
            </a:p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Retriever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408389" y="2387879"/>
            <a:ext cx="2430770" cy="1401270"/>
            <a:chOff x="0" y="0"/>
            <a:chExt cx="3241027" cy="186836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241040" cy="1868424"/>
            </a:xfrm>
            <a:custGeom>
              <a:avLst/>
              <a:gdLst/>
              <a:ahLst/>
              <a:cxnLst/>
              <a:rect l="l" t="t" r="r" b="b"/>
              <a:pathLst>
                <a:path w="3241040" h="1868424">
                  <a:moveTo>
                    <a:pt x="0" y="311404"/>
                  </a:moveTo>
                  <a:cubicBezTo>
                    <a:pt x="0" y="139446"/>
                    <a:pt x="139446" y="0"/>
                    <a:pt x="311404" y="0"/>
                  </a:cubicBezTo>
                  <a:lnTo>
                    <a:pt x="2929636" y="0"/>
                  </a:lnTo>
                  <a:cubicBezTo>
                    <a:pt x="3101594" y="0"/>
                    <a:pt x="3241040" y="139446"/>
                    <a:pt x="3241040" y="311404"/>
                  </a:cubicBezTo>
                  <a:lnTo>
                    <a:pt x="3241040" y="1557020"/>
                  </a:lnTo>
                  <a:cubicBezTo>
                    <a:pt x="3241040" y="1728978"/>
                    <a:pt x="3101594" y="1868424"/>
                    <a:pt x="2929636" y="1868424"/>
                  </a:cubicBezTo>
                  <a:lnTo>
                    <a:pt x="311404" y="1868424"/>
                  </a:lnTo>
                  <a:cubicBezTo>
                    <a:pt x="139446" y="1868297"/>
                    <a:pt x="0" y="1728978"/>
                    <a:pt x="0" y="1557020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10B981"/>
              </a:solidFill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12532500" y="2470814"/>
            <a:ext cx="2182549" cy="1235402"/>
            <a:chOff x="0" y="0"/>
            <a:chExt cx="2910065" cy="1647203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910066" cy="1647207"/>
            </a:xfrm>
            <a:custGeom>
              <a:avLst/>
              <a:gdLst/>
              <a:ahLst/>
              <a:cxnLst/>
              <a:rect l="l" t="t" r="r" b="b"/>
              <a:pathLst>
                <a:path w="2910066" h="1647207">
                  <a:moveTo>
                    <a:pt x="0" y="0"/>
                  </a:moveTo>
                  <a:lnTo>
                    <a:pt x="2910066" y="0"/>
                  </a:lnTo>
                  <a:lnTo>
                    <a:pt x="2910066" y="1647207"/>
                  </a:lnTo>
                  <a:lnTo>
                    <a:pt x="0" y="164720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624" r="-22624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0"/>
              <a:ext cx="2910065" cy="16472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Decision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408389" y="4584154"/>
            <a:ext cx="2430770" cy="1401270"/>
            <a:chOff x="0" y="0"/>
            <a:chExt cx="3241027" cy="186836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241040" cy="1868424"/>
            </a:xfrm>
            <a:custGeom>
              <a:avLst/>
              <a:gdLst/>
              <a:ahLst/>
              <a:cxnLst/>
              <a:rect l="l" t="t" r="r" b="b"/>
              <a:pathLst>
                <a:path w="3241040" h="1868424">
                  <a:moveTo>
                    <a:pt x="0" y="311404"/>
                  </a:moveTo>
                  <a:cubicBezTo>
                    <a:pt x="0" y="139446"/>
                    <a:pt x="139446" y="0"/>
                    <a:pt x="311404" y="0"/>
                  </a:cubicBezTo>
                  <a:lnTo>
                    <a:pt x="2929636" y="0"/>
                  </a:lnTo>
                  <a:cubicBezTo>
                    <a:pt x="3101594" y="0"/>
                    <a:pt x="3241040" y="139446"/>
                    <a:pt x="3241040" y="311404"/>
                  </a:cubicBezTo>
                  <a:lnTo>
                    <a:pt x="3241040" y="1557020"/>
                  </a:lnTo>
                  <a:cubicBezTo>
                    <a:pt x="3241040" y="1728978"/>
                    <a:pt x="3101594" y="1868424"/>
                    <a:pt x="2929636" y="1868424"/>
                  </a:cubicBezTo>
                  <a:lnTo>
                    <a:pt x="311404" y="1868424"/>
                  </a:lnTo>
                  <a:cubicBezTo>
                    <a:pt x="139446" y="1868297"/>
                    <a:pt x="0" y="1728978"/>
                    <a:pt x="0" y="1557020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12532500" y="4667088"/>
            <a:ext cx="2182549" cy="1235402"/>
            <a:chOff x="0" y="0"/>
            <a:chExt cx="2910065" cy="164720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910066" cy="1647207"/>
            </a:xfrm>
            <a:custGeom>
              <a:avLst/>
              <a:gdLst/>
              <a:ahLst/>
              <a:cxnLst/>
              <a:rect l="l" t="t" r="r" b="b"/>
              <a:pathLst>
                <a:path w="2910066" h="1647207">
                  <a:moveTo>
                    <a:pt x="0" y="0"/>
                  </a:moveTo>
                  <a:lnTo>
                    <a:pt x="2910066" y="0"/>
                  </a:lnTo>
                  <a:lnTo>
                    <a:pt x="2910066" y="1647207"/>
                  </a:lnTo>
                  <a:lnTo>
                    <a:pt x="0" y="164720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624" r="-22624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0"/>
              <a:ext cx="2910065" cy="16472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Ticket / Human</a:t>
              </a:r>
            </a:p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Review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5290997" y="3486017"/>
            <a:ext cx="2087604" cy="1401270"/>
            <a:chOff x="0" y="0"/>
            <a:chExt cx="2783472" cy="186836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783459" cy="1868424"/>
            </a:xfrm>
            <a:custGeom>
              <a:avLst/>
              <a:gdLst/>
              <a:ahLst/>
              <a:cxnLst/>
              <a:rect l="l" t="t" r="r" b="b"/>
              <a:pathLst>
                <a:path w="2783459" h="1868424">
                  <a:moveTo>
                    <a:pt x="0" y="311404"/>
                  </a:moveTo>
                  <a:cubicBezTo>
                    <a:pt x="0" y="139446"/>
                    <a:pt x="139446" y="0"/>
                    <a:pt x="311404" y="0"/>
                  </a:cubicBezTo>
                  <a:lnTo>
                    <a:pt x="2472055" y="0"/>
                  </a:lnTo>
                  <a:cubicBezTo>
                    <a:pt x="2644013" y="0"/>
                    <a:pt x="2783459" y="139446"/>
                    <a:pt x="2783459" y="311404"/>
                  </a:cubicBezTo>
                  <a:lnTo>
                    <a:pt x="2783459" y="1557020"/>
                  </a:lnTo>
                  <a:cubicBezTo>
                    <a:pt x="2783459" y="1728978"/>
                    <a:pt x="2644013" y="1868424"/>
                    <a:pt x="2472055" y="1868424"/>
                  </a:cubicBezTo>
                  <a:lnTo>
                    <a:pt x="311404" y="1868424"/>
                  </a:lnTo>
                  <a:cubicBezTo>
                    <a:pt x="139446" y="1868297"/>
                    <a:pt x="0" y="1728978"/>
                    <a:pt x="0" y="1557020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15415108" y="3568951"/>
            <a:ext cx="1839382" cy="1235402"/>
            <a:chOff x="0" y="0"/>
            <a:chExt cx="2452510" cy="1647203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452508" cy="1647207"/>
            </a:xfrm>
            <a:custGeom>
              <a:avLst/>
              <a:gdLst/>
              <a:ahLst/>
              <a:cxnLst/>
              <a:rect l="l" t="t" r="r" b="b"/>
              <a:pathLst>
                <a:path w="2452508" h="1647207">
                  <a:moveTo>
                    <a:pt x="0" y="0"/>
                  </a:moveTo>
                  <a:lnTo>
                    <a:pt x="2452508" y="0"/>
                  </a:lnTo>
                  <a:lnTo>
                    <a:pt x="2452508" y="1647207"/>
                  </a:lnTo>
                  <a:lnTo>
                    <a:pt x="0" y="164720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6173" r="-36173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0"/>
              <a:ext cx="2452510" cy="16472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Response</a:t>
              </a:r>
            </a:p>
          </p:txBody>
        </p:sp>
      </p:grpSp>
      <p:sp>
        <p:nvSpPr>
          <p:cNvPr id="41" name="AutoShape 41"/>
          <p:cNvSpPr/>
          <p:nvPr/>
        </p:nvSpPr>
        <p:spPr>
          <a:xfrm rot="228840">
            <a:off x="3276686" y="4177122"/>
            <a:ext cx="515893" cy="0"/>
          </a:xfrm>
          <a:prstGeom prst="line">
            <a:avLst/>
          </a:prstGeom>
          <a:ln w="19050" cap="rnd">
            <a:solidFill>
              <a:srgbClr val="47556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2" name="AutoShape 42"/>
          <p:cNvSpPr/>
          <p:nvPr/>
        </p:nvSpPr>
        <p:spPr>
          <a:xfrm rot="228840">
            <a:off x="6159294" y="4177122"/>
            <a:ext cx="515893" cy="0"/>
          </a:xfrm>
          <a:prstGeom prst="line">
            <a:avLst/>
          </a:prstGeom>
          <a:ln w="19050" cap="rnd">
            <a:solidFill>
              <a:srgbClr val="47556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3" name="AutoShape 43"/>
          <p:cNvSpPr/>
          <p:nvPr/>
        </p:nvSpPr>
        <p:spPr>
          <a:xfrm rot="228840">
            <a:off x="9041911" y="4177122"/>
            <a:ext cx="515893" cy="0"/>
          </a:xfrm>
          <a:prstGeom prst="line">
            <a:avLst/>
          </a:prstGeom>
          <a:ln w="19050" cap="rnd">
            <a:solidFill>
              <a:srgbClr val="47556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4" name="AutoShape 44"/>
          <p:cNvSpPr/>
          <p:nvPr/>
        </p:nvSpPr>
        <p:spPr>
          <a:xfrm rot="-3850740">
            <a:off x="11591563" y="3593744"/>
            <a:ext cx="1181814" cy="0"/>
          </a:xfrm>
          <a:prstGeom prst="line">
            <a:avLst/>
          </a:prstGeom>
          <a:ln w="19050" cap="rnd">
            <a:solidFill>
              <a:srgbClr val="47556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5" name="AutoShape 45"/>
          <p:cNvSpPr/>
          <p:nvPr/>
        </p:nvSpPr>
        <p:spPr>
          <a:xfrm rot="3850740">
            <a:off x="11591563" y="4760509"/>
            <a:ext cx="1181814" cy="0"/>
          </a:xfrm>
          <a:prstGeom prst="line">
            <a:avLst/>
          </a:prstGeom>
          <a:ln w="19050" cap="rnd">
            <a:solidFill>
              <a:srgbClr val="47556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6" name="AutoShape 46"/>
          <p:cNvSpPr/>
          <p:nvPr/>
        </p:nvSpPr>
        <p:spPr>
          <a:xfrm rot="3850740">
            <a:off x="14474171" y="3593744"/>
            <a:ext cx="1181814" cy="0"/>
          </a:xfrm>
          <a:prstGeom prst="line">
            <a:avLst/>
          </a:prstGeom>
          <a:ln w="19050" cap="rnd">
            <a:solidFill>
              <a:srgbClr val="47556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7" name="AutoShape 47"/>
          <p:cNvSpPr/>
          <p:nvPr/>
        </p:nvSpPr>
        <p:spPr>
          <a:xfrm rot="-4008060">
            <a:off x="14411706" y="4691882"/>
            <a:ext cx="1306744" cy="0"/>
          </a:xfrm>
          <a:prstGeom prst="line">
            <a:avLst/>
          </a:prstGeom>
          <a:ln w="19050" cap="rnd">
            <a:solidFill>
              <a:srgbClr val="47556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8" name="Group 48"/>
          <p:cNvGrpSpPr/>
          <p:nvPr/>
        </p:nvGrpSpPr>
        <p:grpSpPr>
          <a:xfrm>
            <a:off x="953719" y="6513043"/>
            <a:ext cx="5024552" cy="1592875"/>
            <a:chOff x="0" y="0"/>
            <a:chExt cx="6699402" cy="2123834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6699377" cy="2123821"/>
            </a:xfrm>
            <a:custGeom>
              <a:avLst/>
              <a:gdLst/>
              <a:ahLst/>
              <a:cxnLst/>
              <a:rect l="l" t="t" r="r" b="b"/>
              <a:pathLst>
                <a:path w="6699377" h="2123821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6345428" y="0"/>
                  </a:lnTo>
                  <a:cubicBezTo>
                    <a:pt x="6540881" y="0"/>
                    <a:pt x="6699377" y="158496"/>
                    <a:pt x="6699377" y="353949"/>
                  </a:cubicBezTo>
                  <a:lnTo>
                    <a:pt x="6699377" y="1769872"/>
                  </a:lnTo>
                  <a:cubicBezTo>
                    <a:pt x="6699377" y="1965325"/>
                    <a:pt x="6540881" y="2123821"/>
                    <a:pt x="6345428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960872" y="6520196"/>
            <a:ext cx="96088" cy="1578569"/>
            <a:chOff x="0" y="0"/>
            <a:chExt cx="128118" cy="2104758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28143" cy="2104771"/>
            </a:xfrm>
            <a:custGeom>
              <a:avLst/>
              <a:gdLst/>
              <a:ahLst/>
              <a:cxnLst/>
              <a:rect l="l" t="t" r="r" b="b"/>
              <a:pathLst>
                <a:path w="128143" h="2104771">
                  <a:moveTo>
                    <a:pt x="0" y="0"/>
                  </a:moveTo>
                  <a:lnTo>
                    <a:pt x="128143" y="0"/>
                  </a:lnTo>
                  <a:lnTo>
                    <a:pt x="128143" y="2104771"/>
                  </a:lnTo>
                  <a:lnTo>
                    <a:pt x="0" y="2104771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sp>
        <p:nvSpPr>
          <p:cNvPr id="52" name="TextBox 52"/>
          <p:cNvSpPr txBox="1"/>
          <p:nvPr/>
        </p:nvSpPr>
        <p:spPr>
          <a:xfrm>
            <a:off x="1354293" y="6776018"/>
            <a:ext cx="4278306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Grounding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354293" y="7362063"/>
            <a:ext cx="4250855" cy="498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policies.json is the policy source; retrieval uses category mapping and keyword scoring.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6581680" y="6513043"/>
            <a:ext cx="5024552" cy="1592875"/>
            <a:chOff x="0" y="0"/>
            <a:chExt cx="6699402" cy="2123834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6699377" cy="2123821"/>
            </a:xfrm>
            <a:custGeom>
              <a:avLst/>
              <a:gdLst/>
              <a:ahLst/>
              <a:cxnLst/>
              <a:rect l="l" t="t" r="r" b="b"/>
              <a:pathLst>
                <a:path w="6699377" h="2123821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6345428" y="0"/>
                  </a:lnTo>
                  <a:cubicBezTo>
                    <a:pt x="6540881" y="0"/>
                    <a:pt x="6699377" y="158496"/>
                    <a:pt x="6699377" y="353949"/>
                  </a:cubicBezTo>
                  <a:lnTo>
                    <a:pt x="6699377" y="1769872"/>
                  </a:lnTo>
                  <a:cubicBezTo>
                    <a:pt x="6699377" y="1965325"/>
                    <a:pt x="6540881" y="2123821"/>
                    <a:pt x="6345428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6588824" y="6520196"/>
            <a:ext cx="96088" cy="1578569"/>
            <a:chOff x="0" y="0"/>
            <a:chExt cx="128118" cy="2104758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28143" cy="2104771"/>
            </a:xfrm>
            <a:custGeom>
              <a:avLst/>
              <a:gdLst/>
              <a:ahLst/>
              <a:cxnLst/>
              <a:rect l="l" t="t" r="r" b="b"/>
              <a:pathLst>
                <a:path w="128143" h="2104771">
                  <a:moveTo>
                    <a:pt x="0" y="0"/>
                  </a:moveTo>
                  <a:lnTo>
                    <a:pt x="128143" y="0"/>
                  </a:lnTo>
                  <a:lnTo>
                    <a:pt x="128143" y="2104771"/>
                  </a:lnTo>
                  <a:lnTo>
                    <a:pt x="0" y="2104771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sp>
        <p:nvSpPr>
          <p:cNvPr id="58" name="TextBox 58"/>
          <p:cNvSpPr txBox="1"/>
          <p:nvPr/>
        </p:nvSpPr>
        <p:spPr>
          <a:xfrm>
            <a:off x="6982254" y="6776018"/>
            <a:ext cx="4278306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Reasoning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982254" y="7362063"/>
            <a:ext cx="4250855" cy="498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Ollama gpt-oss:20b handles classification, decision and response generation.</a:t>
            </a:r>
          </a:p>
        </p:txBody>
      </p:sp>
      <p:grpSp>
        <p:nvGrpSpPr>
          <p:cNvPr id="60" name="Group 60"/>
          <p:cNvGrpSpPr/>
          <p:nvPr/>
        </p:nvGrpSpPr>
        <p:grpSpPr>
          <a:xfrm>
            <a:off x="12209631" y="6513043"/>
            <a:ext cx="5024552" cy="1592875"/>
            <a:chOff x="0" y="0"/>
            <a:chExt cx="6699402" cy="2123834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6699377" cy="2123821"/>
            </a:xfrm>
            <a:custGeom>
              <a:avLst/>
              <a:gdLst/>
              <a:ahLst/>
              <a:cxnLst/>
              <a:rect l="l" t="t" r="r" b="b"/>
              <a:pathLst>
                <a:path w="6699377" h="2123821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6345428" y="0"/>
                  </a:lnTo>
                  <a:cubicBezTo>
                    <a:pt x="6540881" y="0"/>
                    <a:pt x="6699377" y="158496"/>
                    <a:pt x="6699377" y="353949"/>
                  </a:cubicBezTo>
                  <a:lnTo>
                    <a:pt x="6699377" y="1769872"/>
                  </a:lnTo>
                  <a:cubicBezTo>
                    <a:pt x="6699377" y="1965325"/>
                    <a:pt x="6540881" y="2123821"/>
                    <a:pt x="6345428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62" name="Group 62"/>
          <p:cNvGrpSpPr/>
          <p:nvPr/>
        </p:nvGrpSpPr>
        <p:grpSpPr>
          <a:xfrm>
            <a:off x="12216784" y="6520196"/>
            <a:ext cx="96088" cy="1578569"/>
            <a:chOff x="0" y="0"/>
            <a:chExt cx="128118" cy="2104758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28143" cy="2104771"/>
            </a:xfrm>
            <a:custGeom>
              <a:avLst/>
              <a:gdLst/>
              <a:ahLst/>
              <a:cxnLst/>
              <a:rect l="l" t="t" r="r" b="b"/>
              <a:pathLst>
                <a:path w="128143" h="2104771">
                  <a:moveTo>
                    <a:pt x="0" y="0"/>
                  </a:moveTo>
                  <a:lnTo>
                    <a:pt x="128143" y="0"/>
                  </a:lnTo>
                  <a:lnTo>
                    <a:pt x="128143" y="2104771"/>
                  </a:lnTo>
                  <a:lnTo>
                    <a:pt x="0" y="2104771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sp>
        <p:nvSpPr>
          <p:cNvPr id="64" name="TextBox 64"/>
          <p:cNvSpPr txBox="1"/>
          <p:nvPr/>
        </p:nvSpPr>
        <p:spPr>
          <a:xfrm>
            <a:off x="12610214" y="6776018"/>
            <a:ext cx="4278306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Persistence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2610214" y="7362063"/>
            <a:ext cx="4250855" cy="498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SQLite stores tickets, audit logs and settings; admins can update ticket status.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6288979" y="9735664"/>
            <a:ext cx="915257" cy="280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1">
                <a:solidFill>
                  <a:srgbClr val="47556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23539"/>
            <a:chOff x="0" y="0"/>
            <a:chExt cx="24402453" cy="164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64719"/>
            </a:xfrm>
            <a:custGeom>
              <a:avLst/>
              <a:gdLst/>
              <a:ahLst/>
              <a:cxnLst/>
              <a:rect l="l" t="t" r="r" b="b"/>
              <a:pathLst>
                <a:path w="24402414" h="164719">
                  <a:moveTo>
                    <a:pt x="0" y="0"/>
                  </a:moveTo>
                  <a:lnTo>
                    <a:pt x="24402414" y="0"/>
                  </a:lnTo>
                  <a:lnTo>
                    <a:pt x="24402414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983675" y="484975"/>
            <a:ext cx="16289188" cy="800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1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Complete Solution Architecture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4861" y="1308583"/>
            <a:ext cx="16014659" cy="457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Actual project components and their responsibilities.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15203" y="2113340"/>
            <a:ext cx="16294770" cy="1016918"/>
            <a:chOff x="0" y="0"/>
            <a:chExt cx="21726360" cy="1355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26271" cy="1355852"/>
            </a:xfrm>
            <a:custGeom>
              <a:avLst/>
              <a:gdLst/>
              <a:ahLst/>
              <a:cxnLst/>
              <a:rect l="l" t="t" r="r" b="b"/>
              <a:pathLst>
                <a:path w="21726271" h="1355852">
                  <a:moveTo>
                    <a:pt x="0" y="225933"/>
                  </a:moveTo>
                  <a:cubicBezTo>
                    <a:pt x="0" y="101219"/>
                    <a:pt x="101219" y="0"/>
                    <a:pt x="225933" y="0"/>
                  </a:cubicBezTo>
                  <a:lnTo>
                    <a:pt x="21500337" y="0"/>
                  </a:lnTo>
                  <a:cubicBezTo>
                    <a:pt x="21625178" y="0"/>
                    <a:pt x="21726271" y="101219"/>
                    <a:pt x="21726271" y="225933"/>
                  </a:cubicBezTo>
                  <a:lnTo>
                    <a:pt x="21726271" y="1129919"/>
                  </a:lnTo>
                  <a:cubicBezTo>
                    <a:pt x="21726271" y="1254760"/>
                    <a:pt x="21625052" y="1355852"/>
                    <a:pt x="21500337" y="1355852"/>
                  </a:cubicBezTo>
                  <a:lnTo>
                    <a:pt x="225933" y="1355852"/>
                  </a:lnTo>
                  <a:cubicBezTo>
                    <a:pt x="101219" y="1355852"/>
                    <a:pt x="0" y="1254760"/>
                    <a:pt x="0" y="1129919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139314" y="2196274"/>
            <a:ext cx="16046539" cy="851059"/>
            <a:chOff x="0" y="0"/>
            <a:chExt cx="21395385" cy="113474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395387" cy="1134743"/>
            </a:xfrm>
            <a:custGeom>
              <a:avLst/>
              <a:gdLst/>
              <a:ahLst/>
              <a:cxnLst/>
              <a:rect l="l" t="t" r="r" b="b"/>
              <a:pathLst>
                <a:path w="21395387" h="1134743">
                  <a:moveTo>
                    <a:pt x="0" y="0"/>
                  </a:moveTo>
                  <a:lnTo>
                    <a:pt x="21395387" y="0"/>
                  </a:lnTo>
                  <a:lnTo>
                    <a:pt x="21395387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7387" b="-317387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21395385" cy="1134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 b="1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FRONTEND  •  static/index.html  |  script.js  |  style.css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 rot="5188080">
            <a:off x="8890959" y="3367249"/>
            <a:ext cx="556993" cy="0"/>
          </a:xfrm>
          <a:prstGeom prst="line">
            <a:avLst/>
          </a:prstGeom>
          <a:ln w="19050" cap="rnd">
            <a:solidFill>
              <a:srgbClr val="47556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1015203" y="3623281"/>
            <a:ext cx="16294770" cy="1016918"/>
            <a:chOff x="0" y="0"/>
            <a:chExt cx="21726360" cy="135589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726271" cy="1355852"/>
            </a:xfrm>
            <a:custGeom>
              <a:avLst/>
              <a:gdLst/>
              <a:ahLst/>
              <a:cxnLst/>
              <a:rect l="l" t="t" r="r" b="b"/>
              <a:pathLst>
                <a:path w="21726271" h="1355852">
                  <a:moveTo>
                    <a:pt x="0" y="225933"/>
                  </a:moveTo>
                  <a:cubicBezTo>
                    <a:pt x="0" y="101219"/>
                    <a:pt x="101219" y="0"/>
                    <a:pt x="225933" y="0"/>
                  </a:cubicBezTo>
                  <a:lnTo>
                    <a:pt x="21500337" y="0"/>
                  </a:lnTo>
                  <a:cubicBezTo>
                    <a:pt x="21625178" y="0"/>
                    <a:pt x="21726271" y="101219"/>
                    <a:pt x="21726271" y="225933"/>
                  </a:cubicBezTo>
                  <a:lnTo>
                    <a:pt x="21726271" y="1129919"/>
                  </a:lnTo>
                  <a:cubicBezTo>
                    <a:pt x="21726271" y="1254760"/>
                    <a:pt x="21625052" y="1355852"/>
                    <a:pt x="21500337" y="1355852"/>
                  </a:cubicBezTo>
                  <a:lnTo>
                    <a:pt x="225933" y="1355852"/>
                  </a:lnTo>
                  <a:cubicBezTo>
                    <a:pt x="101219" y="1355852"/>
                    <a:pt x="0" y="1254760"/>
                    <a:pt x="0" y="1129919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06B6D4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139314" y="3706216"/>
            <a:ext cx="16046539" cy="851059"/>
            <a:chOff x="0" y="0"/>
            <a:chExt cx="21395385" cy="113474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395387" cy="1134743"/>
            </a:xfrm>
            <a:custGeom>
              <a:avLst/>
              <a:gdLst/>
              <a:ahLst/>
              <a:cxnLst/>
              <a:rect l="l" t="t" r="r" b="b"/>
              <a:pathLst>
                <a:path w="21395387" h="1134743">
                  <a:moveTo>
                    <a:pt x="0" y="0"/>
                  </a:moveTo>
                  <a:lnTo>
                    <a:pt x="21395387" y="0"/>
                  </a:lnTo>
                  <a:lnTo>
                    <a:pt x="21395387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7387" b="-317387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1395385" cy="1134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 b="1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BACKEND  •  main.py / FastAPI + Uvicorn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 rot="5188080">
            <a:off x="8890959" y="4877191"/>
            <a:ext cx="556993" cy="0"/>
          </a:xfrm>
          <a:prstGeom prst="line">
            <a:avLst/>
          </a:prstGeom>
          <a:ln w="19050" cap="rnd">
            <a:solidFill>
              <a:srgbClr val="47556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8" name="Group 18"/>
          <p:cNvGrpSpPr/>
          <p:nvPr/>
        </p:nvGrpSpPr>
        <p:grpSpPr>
          <a:xfrm>
            <a:off x="1015203" y="5133223"/>
            <a:ext cx="4901584" cy="1469908"/>
            <a:chOff x="0" y="0"/>
            <a:chExt cx="6535445" cy="195987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535420" cy="1959864"/>
            </a:xfrm>
            <a:custGeom>
              <a:avLst/>
              <a:gdLst/>
              <a:ahLst/>
              <a:cxnLst/>
              <a:rect l="l" t="t" r="r" b="b"/>
              <a:pathLst>
                <a:path w="6535420" h="1959864">
                  <a:moveTo>
                    <a:pt x="0" y="326644"/>
                  </a:moveTo>
                  <a:cubicBezTo>
                    <a:pt x="0" y="146304"/>
                    <a:pt x="146304" y="0"/>
                    <a:pt x="326644" y="0"/>
                  </a:cubicBezTo>
                  <a:lnTo>
                    <a:pt x="6208776" y="0"/>
                  </a:lnTo>
                  <a:cubicBezTo>
                    <a:pt x="6389243" y="0"/>
                    <a:pt x="6535420" y="146304"/>
                    <a:pt x="6535420" y="326644"/>
                  </a:cubicBezTo>
                  <a:lnTo>
                    <a:pt x="6535420" y="1633220"/>
                  </a:lnTo>
                  <a:cubicBezTo>
                    <a:pt x="6535420" y="1813687"/>
                    <a:pt x="6389116" y="1959864"/>
                    <a:pt x="6208776" y="1959864"/>
                  </a:cubicBezTo>
                  <a:lnTo>
                    <a:pt x="326644" y="1959864"/>
                  </a:lnTo>
                  <a:cubicBezTo>
                    <a:pt x="146304" y="1959864"/>
                    <a:pt x="0" y="1813687"/>
                    <a:pt x="0" y="1633220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1139314" y="5216157"/>
            <a:ext cx="4653363" cy="1304039"/>
            <a:chOff x="0" y="0"/>
            <a:chExt cx="6204483" cy="17387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204477" cy="1738718"/>
            </a:xfrm>
            <a:custGeom>
              <a:avLst/>
              <a:gdLst/>
              <a:ahLst/>
              <a:cxnLst/>
              <a:rect l="l" t="t" r="r" b="b"/>
              <a:pathLst>
                <a:path w="6204477" h="1738718">
                  <a:moveTo>
                    <a:pt x="0" y="0"/>
                  </a:moveTo>
                  <a:lnTo>
                    <a:pt x="6204477" y="0"/>
                  </a:lnTo>
                  <a:lnTo>
                    <a:pt x="6204477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9530" b="-19530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6204483" cy="17387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AI ORCHESTRATION</a:t>
              </a:r>
            </a:p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agent.py</a:t>
              </a:r>
            </a:p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classify → decide → respond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11801" y="5133223"/>
            <a:ext cx="4901584" cy="1469908"/>
            <a:chOff x="0" y="0"/>
            <a:chExt cx="6535445" cy="195987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535420" cy="1959864"/>
            </a:xfrm>
            <a:custGeom>
              <a:avLst/>
              <a:gdLst/>
              <a:ahLst/>
              <a:cxnLst/>
              <a:rect l="l" t="t" r="r" b="b"/>
              <a:pathLst>
                <a:path w="6535420" h="1959864">
                  <a:moveTo>
                    <a:pt x="0" y="326644"/>
                  </a:moveTo>
                  <a:cubicBezTo>
                    <a:pt x="0" y="146304"/>
                    <a:pt x="146304" y="0"/>
                    <a:pt x="326644" y="0"/>
                  </a:cubicBezTo>
                  <a:lnTo>
                    <a:pt x="6208776" y="0"/>
                  </a:lnTo>
                  <a:cubicBezTo>
                    <a:pt x="6389243" y="0"/>
                    <a:pt x="6535420" y="146304"/>
                    <a:pt x="6535420" y="326644"/>
                  </a:cubicBezTo>
                  <a:lnTo>
                    <a:pt x="6535420" y="1633220"/>
                  </a:lnTo>
                  <a:cubicBezTo>
                    <a:pt x="6535420" y="1813687"/>
                    <a:pt x="6389116" y="1959864"/>
                    <a:pt x="6208776" y="1959864"/>
                  </a:cubicBezTo>
                  <a:lnTo>
                    <a:pt x="326644" y="1959864"/>
                  </a:lnTo>
                  <a:cubicBezTo>
                    <a:pt x="146304" y="1959864"/>
                    <a:pt x="0" y="1813687"/>
                    <a:pt x="0" y="1633220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6835912" y="5216157"/>
            <a:ext cx="4653363" cy="1304039"/>
            <a:chOff x="0" y="0"/>
            <a:chExt cx="6204483" cy="17387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204477" cy="1738718"/>
            </a:xfrm>
            <a:custGeom>
              <a:avLst/>
              <a:gdLst/>
              <a:ahLst/>
              <a:cxnLst/>
              <a:rect l="l" t="t" r="r" b="b"/>
              <a:pathLst>
                <a:path w="6204477" h="1738718">
                  <a:moveTo>
                    <a:pt x="0" y="0"/>
                  </a:moveTo>
                  <a:lnTo>
                    <a:pt x="6204477" y="0"/>
                  </a:lnTo>
                  <a:lnTo>
                    <a:pt x="6204477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9530" b="-19530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6204483" cy="17387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KNOWLEDGE</a:t>
              </a:r>
            </a:p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retriever.py</a:t>
              </a:r>
            </a:p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policies.json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408389" y="5133223"/>
            <a:ext cx="4901584" cy="1469908"/>
            <a:chOff x="0" y="0"/>
            <a:chExt cx="6535445" cy="195987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535420" cy="1959864"/>
            </a:xfrm>
            <a:custGeom>
              <a:avLst/>
              <a:gdLst/>
              <a:ahLst/>
              <a:cxnLst/>
              <a:rect l="l" t="t" r="r" b="b"/>
              <a:pathLst>
                <a:path w="6535420" h="1959864">
                  <a:moveTo>
                    <a:pt x="0" y="326644"/>
                  </a:moveTo>
                  <a:cubicBezTo>
                    <a:pt x="0" y="146304"/>
                    <a:pt x="146304" y="0"/>
                    <a:pt x="326644" y="0"/>
                  </a:cubicBezTo>
                  <a:lnTo>
                    <a:pt x="6208776" y="0"/>
                  </a:lnTo>
                  <a:cubicBezTo>
                    <a:pt x="6389243" y="0"/>
                    <a:pt x="6535420" y="146304"/>
                    <a:pt x="6535420" y="326644"/>
                  </a:cubicBezTo>
                  <a:lnTo>
                    <a:pt x="6535420" y="1633220"/>
                  </a:lnTo>
                  <a:cubicBezTo>
                    <a:pt x="6535420" y="1813687"/>
                    <a:pt x="6389116" y="1959864"/>
                    <a:pt x="6208776" y="1959864"/>
                  </a:cubicBezTo>
                  <a:lnTo>
                    <a:pt x="326644" y="1959864"/>
                  </a:lnTo>
                  <a:cubicBezTo>
                    <a:pt x="146304" y="1959864"/>
                    <a:pt x="0" y="1813687"/>
                    <a:pt x="0" y="1633220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10B981"/>
              </a:solidFill>
              <a:prstDash val="solid"/>
              <a:miter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12532500" y="5216157"/>
            <a:ext cx="4653363" cy="1304039"/>
            <a:chOff x="0" y="0"/>
            <a:chExt cx="6204483" cy="173871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204477" cy="1738718"/>
            </a:xfrm>
            <a:custGeom>
              <a:avLst/>
              <a:gdLst/>
              <a:ahLst/>
              <a:cxnLst/>
              <a:rect l="l" t="t" r="r" b="b"/>
              <a:pathLst>
                <a:path w="6204477" h="1738718">
                  <a:moveTo>
                    <a:pt x="0" y="0"/>
                  </a:moveTo>
                  <a:lnTo>
                    <a:pt x="6204477" y="0"/>
                  </a:lnTo>
                  <a:lnTo>
                    <a:pt x="6204477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9530" b="-19530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0"/>
              <a:ext cx="6204483" cy="17387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PERSISTENCE</a:t>
              </a:r>
            </a:p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database.py</a:t>
              </a:r>
            </a:p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SQLite</a:t>
              </a:r>
            </a:p>
          </p:txBody>
        </p:sp>
      </p:grpSp>
      <p:sp>
        <p:nvSpPr>
          <p:cNvPr id="33" name="AutoShape 33"/>
          <p:cNvSpPr/>
          <p:nvPr/>
        </p:nvSpPr>
        <p:spPr>
          <a:xfrm rot="137460">
            <a:off x="5884993" y="5851789"/>
            <a:ext cx="858603" cy="0"/>
          </a:xfrm>
          <a:prstGeom prst="line">
            <a:avLst/>
          </a:prstGeom>
          <a:ln w="19050" cap="rnd">
            <a:solidFill>
              <a:srgbClr val="47556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4" name="AutoShape 34"/>
          <p:cNvSpPr/>
          <p:nvPr/>
        </p:nvSpPr>
        <p:spPr>
          <a:xfrm rot="137460">
            <a:off x="11581581" y="5851789"/>
            <a:ext cx="858612" cy="0"/>
          </a:xfrm>
          <a:prstGeom prst="line">
            <a:avLst/>
          </a:prstGeom>
          <a:ln w="19050" cap="rnd">
            <a:solidFill>
              <a:srgbClr val="47556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5" name="Group 35"/>
          <p:cNvGrpSpPr/>
          <p:nvPr/>
        </p:nvGrpSpPr>
        <p:grpSpPr>
          <a:xfrm>
            <a:off x="1022356" y="7199386"/>
            <a:ext cx="4887287" cy="1455601"/>
            <a:chOff x="0" y="0"/>
            <a:chExt cx="6516383" cy="1940801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516370" cy="1940814"/>
            </a:xfrm>
            <a:custGeom>
              <a:avLst/>
              <a:gdLst/>
              <a:ahLst/>
              <a:cxnLst/>
              <a:rect l="l" t="t" r="r" b="b"/>
              <a:pathLst>
                <a:path w="6516370" h="1940814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6192901" y="0"/>
                  </a:lnTo>
                  <a:cubicBezTo>
                    <a:pt x="6371590" y="0"/>
                    <a:pt x="6516370" y="144780"/>
                    <a:pt x="6516370" y="323469"/>
                  </a:cubicBezTo>
                  <a:lnTo>
                    <a:pt x="6516370" y="1617345"/>
                  </a:lnTo>
                  <a:cubicBezTo>
                    <a:pt x="6516370" y="1796034"/>
                    <a:pt x="6371590" y="1940814"/>
                    <a:pt x="6192901" y="1940814"/>
                  </a:cubicBezTo>
                  <a:lnTo>
                    <a:pt x="323469" y="1940814"/>
                  </a:lnTo>
                  <a:cubicBezTo>
                    <a:pt x="144780" y="1940814"/>
                    <a:pt x="0" y="1796034"/>
                    <a:pt x="0" y="1617345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1029500" y="7206529"/>
            <a:ext cx="96088" cy="1441304"/>
            <a:chOff x="0" y="0"/>
            <a:chExt cx="128118" cy="192173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28143" cy="1921764"/>
            </a:xfrm>
            <a:custGeom>
              <a:avLst/>
              <a:gdLst/>
              <a:ahLst/>
              <a:cxnLst/>
              <a:rect l="l" t="t" r="r" b="b"/>
              <a:pathLst>
                <a:path w="128143" h="1921764">
                  <a:moveTo>
                    <a:pt x="0" y="0"/>
                  </a:moveTo>
                  <a:lnTo>
                    <a:pt x="128143" y="0"/>
                  </a:lnTo>
                  <a:lnTo>
                    <a:pt x="128143" y="1921764"/>
                  </a:lnTo>
                  <a:lnTo>
                    <a:pt x="0" y="1921764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sp>
        <p:nvSpPr>
          <p:cNvPr id="39" name="TextBox 39"/>
          <p:cNvSpPr txBox="1"/>
          <p:nvPr/>
        </p:nvSpPr>
        <p:spPr>
          <a:xfrm>
            <a:off x="1422930" y="7462352"/>
            <a:ext cx="4141041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LLM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422930" y="8048396"/>
            <a:ext cx="4113581" cy="361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Ollama API → gpt-oss:20b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6718945" y="7199386"/>
            <a:ext cx="4887287" cy="1455601"/>
            <a:chOff x="0" y="0"/>
            <a:chExt cx="6516383" cy="1940801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516370" cy="1940814"/>
            </a:xfrm>
            <a:custGeom>
              <a:avLst/>
              <a:gdLst/>
              <a:ahLst/>
              <a:cxnLst/>
              <a:rect l="l" t="t" r="r" b="b"/>
              <a:pathLst>
                <a:path w="6516370" h="1940814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6192901" y="0"/>
                  </a:lnTo>
                  <a:cubicBezTo>
                    <a:pt x="6371590" y="0"/>
                    <a:pt x="6516370" y="144780"/>
                    <a:pt x="6516370" y="323469"/>
                  </a:cubicBezTo>
                  <a:lnTo>
                    <a:pt x="6516370" y="1617345"/>
                  </a:lnTo>
                  <a:cubicBezTo>
                    <a:pt x="6516370" y="1796034"/>
                    <a:pt x="6371590" y="1940814"/>
                    <a:pt x="6192901" y="1940814"/>
                  </a:cubicBezTo>
                  <a:lnTo>
                    <a:pt x="323469" y="1940814"/>
                  </a:lnTo>
                  <a:cubicBezTo>
                    <a:pt x="144780" y="1940814"/>
                    <a:pt x="0" y="1796034"/>
                    <a:pt x="0" y="1617345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6726098" y="7206529"/>
            <a:ext cx="96088" cy="1441304"/>
            <a:chOff x="0" y="0"/>
            <a:chExt cx="128118" cy="192173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28143" cy="1921764"/>
            </a:xfrm>
            <a:custGeom>
              <a:avLst/>
              <a:gdLst/>
              <a:ahLst/>
              <a:cxnLst/>
              <a:rect l="l" t="t" r="r" b="b"/>
              <a:pathLst>
                <a:path w="128143" h="1921764">
                  <a:moveTo>
                    <a:pt x="0" y="0"/>
                  </a:moveTo>
                  <a:lnTo>
                    <a:pt x="128143" y="0"/>
                  </a:lnTo>
                  <a:lnTo>
                    <a:pt x="128143" y="1921764"/>
                  </a:lnTo>
                  <a:lnTo>
                    <a:pt x="0" y="1921764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sp>
        <p:nvSpPr>
          <p:cNvPr id="45" name="TextBox 45"/>
          <p:cNvSpPr txBox="1"/>
          <p:nvPr/>
        </p:nvSpPr>
        <p:spPr>
          <a:xfrm>
            <a:off x="7119518" y="7462352"/>
            <a:ext cx="4141041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Security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119518" y="8048396"/>
            <a:ext cx="4113581" cy="361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bcrypt + Bearer admin sessions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12415533" y="7199386"/>
            <a:ext cx="4887287" cy="1455601"/>
            <a:chOff x="0" y="0"/>
            <a:chExt cx="6516383" cy="1940801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6516370" cy="1940814"/>
            </a:xfrm>
            <a:custGeom>
              <a:avLst/>
              <a:gdLst/>
              <a:ahLst/>
              <a:cxnLst/>
              <a:rect l="l" t="t" r="r" b="b"/>
              <a:pathLst>
                <a:path w="6516370" h="1940814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6192901" y="0"/>
                  </a:lnTo>
                  <a:cubicBezTo>
                    <a:pt x="6371590" y="0"/>
                    <a:pt x="6516370" y="144780"/>
                    <a:pt x="6516370" y="323469"/>
                  </a:cubicBezTo>
                  <a:lnTo>
                    <a:pt x="6516370" y="1617345"/>
                  </a:lnTo>
                  <a:cubicBezTo>
                    <a:pt x="6516370" y="1796034"/>
                    <a:pt x="6371590" y="1940814"/>
                    <a:pt x="6192901" y="1940814"/>
                  </a:cubicBezTo>
                  <a:lnTo>
                    <a:pt x="323469" y="1940814"/>
                  </a:lnTo>
                  <a:cubicBezTo>
                    <a:pt x="144780" y="1940814"/>
                    <a:pt x="0" y="1796034"/>
                    <a:pt x="0" y="1617345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12422686" y="7206529"/>
            <a:ext cx="96088" cy="1441304"/>
            <a:chOff x="0" y="0"/>
            <a:chExt cx="128118" cy="1921739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28143" cy="1921764"/>
            </a:xfrm>
            <a:custGeom>
              <a:avLst/>
              <a:gdLst/>
              <a:ahLst/>
              <a:cxnLst/>
              <a:rect l="l" t="t" r="r" b="b"/>
              <a:pathLst>
                <a:path w="128143" h="1921764">
                  <a:moveTo>
                    <a:pt x="0" y="0"/>
                  </a:moveTo>
                  <a:lnTo>
                    <a:pt x="128143" y="0"/>
                  </a:lnTo>
                  <a:lnTo>
                    <a:pt x="128143" y="1921764"/>
                  </a:lnTo>
                  <a:lnTo>
                    <a:pt x="0" y="1921764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sp>
        <p:nvSpPr>
          <p:cNvPr id="51" name="TextBox 51"/>
          <p:cNvSpPr txBox="1"/>
          <p:nvPr/>
        </p:nvSpPr>
        <p:spPr>
          <a:xfrm>
            <a:off x="12816116" y="7462352"/>
            <a:ext cx="4141041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Audit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2816116" y="8048396"/>
            <a:ext cx="4113581" cy="361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audit_logs records request processing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6288979" y="9735664"/>
            <a:ext cx="915257" cy="280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1">
                <a:solidFill>
                  <a:srgbClr val="47556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23539"/>
            <a:chOff x="0" y="0"/>
            <a:chExt cx="24402453" cy="164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64719"/>
            </a:xfrm>
            <a:custGeom>
              <a:avLst/>
              <a:gdLst/>
              <a:ahLst/>
              <a:cxnLst/>
              <a:rect l="l" t="t" r="r" b="b"/>
              <a:pathLst>
                <a:path w="24402414" h="164719">
                  <a:moveTo>
                    <a:pt x="0" y="0"/>
                  </a:moveTo>
                  <a:lnTo>
                    <a:pt x="24402414" y="0"/>
                  </a:lnTo>
                  <a:lnTo>
                    <a:pt x="24402414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983675" y="484975"/>
            <a:ext cx="16289188" cy="800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1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Agent Workflow &amp; Decision Logic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4861" y="1308583"/>
            <a:ext cx="16014659" cy="457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The agent follows a structured pipeline designed around policy grounding.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877938" y="2387879"/>
            <a:ext cx="3117113" cy="2156241"/>
            <a:chOff x="0" y="0"/>
            <a:chExt cx="4156151" cy="287498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156202" cy="2875026"/>
            </a:xfrm>
            <a:custGeom>
              <a:avLst/>
              <a:gdLst/>
              <a:ahLst/>
              <a:cxnLst/>
              <a:rect l="l" t="t" r="r" b="b"/>
              <a:pathLst>
                <a:path w="4156202" h="2875026">
                  <a:moveTo>
                    <a:pt x="0" y="479171"/>
                  </a:moveTo>
                  <a:cubicBezTo>
                    <a:pt x="0" y="214503"/>
                    <a:pt x="214503" y="0"/>
                    <a:pt x="479171" y="0"/>
                  </a:cubicBezTo>
                  <a:lnTo>
                    <a:pt x="3677031" y="0"/>
                  </a:lnTo>
                  <a:cubicBezTo>
                    <a:pt x="3941699" y="0"/>
                    <a:pt x="4156202" y="214503"/>
                    <a:pt x="4156202" y="479171"/>
                  </a:cubicBezTo>
                  <a:lnTo>
                    <a:pt x="4156202" y="2395855"/>
                  </a:lnTo>
                  <a:cubicBezTo>
                    <a:pt x="4156202" y="2660523"/>
                    <a:pt x="3941699" y="2875026"/>
                    <a:pt x="3677031" y="2875026"/>
                  </a:cubicBezTo>
                  <a:lnTo>
                    <a:pt x="479171" y="2875026"/>
                  </a:lnTo>
                  <a:cubicBezTo>
                    <a:pt x="214503" y="2875026"/>
                    <a:pt x="0" y="2660396"/>
                    <a:pt x="0" y="2395855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02049" y="2470814"/>
            <a:ext cx="2868882" cy="1990373"/>
            <a:chOff x="0" y="0"/>
            <a:chExt cx="3825176" cy="26538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825179" cy="2653833"/>
            </a:xfrm>
            <a:custGeom>
              <a:avLst/>
              <a:gdLst/>
              <a:ahLst/>
              <a:cxnLst/>
              <a:rect l="l" t="t" r="r" b="b"/>
              <a:pathLst>
                <a:path w="3825179" h="2653833">
                  <a:moveTo>
                    <a:pt x="0" y="0"/>
                  </a:moveTo>
                  <a:lnTo>
                    <a:pt x="3825179" y="0"/>
                  </a:lnTo>
                  <a:lnTo>
                    <a:pt x="3825179" y="2653833"/>
                  </a:lnTo>
                  <a:lnTo>
                    <a:pt x="0" y="265383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014" r="-39014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3825176" cy="26538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82"/>
                </a:lnSpc>
              </a:pPr>
              <a:r>
                <a:rPr lang="en-US" sz="2401" b="1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  <a:p>
              <a:pPr algn="ctr">
                <a:lnSpc>
                  <a:spcPts val="2882"/>
                </a:lnSpc>
              </a:pPr>
              <a:r>
                <a:rPr lang="en-US" sz="2401" b="1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Classify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148401" y="4752861"/>
            <a:ext cx="2562463" cy="1378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classify_request()</a:t>
            </a:r>
          </a:p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LLM → IT category</a:t>
            </a:r>
          </a:p>
        </p:txBody>
      </p:sp>
      <p:sp>
        <p:nvSpPr>
          <p:cNvPr id="12" name="AutoShape 12"/>
          <p:cNvSpPr/>
          <p:nvPr/>
        </p:nvSpPr>
        <p:spPr>
          <a:xfrm rot="241679">
            <a:off x="3962991" y="3449612"/>
            <a:ext cx="488509" cy="0"/>
          </a:xfrm>
          <a:prstGeom prst="line">
            <a:avLst/>
          </a:prstGeom>
          <a:ln w="19050" cap="rnd">
            <a:solidFill>
              <a:srgbClr val="47556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3" name="Group 13"/>
          <p:cNvGrpSpPr/>
          <p:nvPr/>
        </p:nvGrpSpPr>
        <p:grpSpPr>
          <a:xfrm>
            <a:off x="4378252" y="2387879"/>
            <a:ext cx="3117113" cy="2156241"/>
            <a:chOff x="0" y="0"/>
            <a:chExt cx="4156151" cy="287498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156202" cy="2875026"/>
            </a:xfrm>
            <a:custGeom>
              <a:avLst/>
              <a:gdLst/>
              <a:ahLst/>
              <a:cxnLst/>
              <a:rect l="l" t="t" r="r" b="b"/>
              <a:pathLst>
                <a:path w="4156202" h="2875026">
                  <a:moveTo>
                    <a:pt x="0" y="479171"/>
                  </a:moveTo>
                  <a:cubicBezTo>
                    <a:pt x="0" y="214503"/>
                    <a:pt x="214503" y="0"/>
                    <a:pt x="479171" y="0"/>
                  </a:cubicBezTo>
                  <a:lnTo>
                    <a:pt x="3677031" y="0"/>
                  </a:lnTo>
                  <a:cubicBezTo>
                    <a:pt x="3941699" y="0"/>
                    <a:pt x="4156202" y="214503"/>
                    <a:pt x="4156202" y="479171"/>
                  </a:cubicBezTo>
                  <a:lnTo>
                    <a:pt x="4156202" y="2395855"/>
                  </a:lnTo>
                  <a:cubicBezTo>
                    <a:pt x="4156202" y="2660523"/>
                    <a:pt x="3941699" y="2875026"/>
                    <a:pt x="3677031" y="2875026"/>
                  </a:cubicBezTo>
                  <a:lnTo>
                    <a:pt x="479171" y="2875026"/>
                  </a:lnTo>
                  <a:cubicBezTo>
                    <a:pt x="214503" y="2875026"/>
                    <a:pt x="0" y="2660396"/>
                    <a:pt x="0" y="2395855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4502363" y="2470814"/>
            <a:ext cx="2868882" cy="1990373"/>
            <a:chOff x="0" y="0"/>
            <a:chExt cx="3825176" cy="265383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825179" cy="2653833"/>
            </a:xfrm>
            <a:custGeom>
              <a:avLst/>
              <a:gdLst/>
              <a:ahLst/>
              <a:cxnLst/>
              <a:rect l="l" t="t" r="r" b="b"/>
              <a:pathLst>
                <a:path w="3825179" h="2653833">
                  <a:moveTo>
                    <a:pt x="0" y="0"/>
                  </a:moveTo>
                  <a:lnTo>
                    <a:pt x="3825179" y="0"/>
                  </a:lnTo>
                  <a:lnTo>
                    <a:pt x="3825179" y="2653833"/>
                  </a:lnTo>
                  <a:lnTo>
                    <a:pt x="0" y="265383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014" r="-39014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3825176" cy="26538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82"/>
                </a:lnSpc>
              </a:pPr>
              <a:r>
                <a:rPr lang="en-US" sz="2401" b="1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  <a:p>
              <a:pPr algn="ctr">
                <a:lnSpc>
                  <a:spcPts val="2882"/>
                </a:lnSpc>
              </a:pPr>
              <a:r>
                <a:rPr lang="en-US" sz="2401" b="1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Retrieve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4648714" y="4752861"/>
            <a:ext cx="2562463" cy="1378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find_relevant_policy()</a:t>
            </a:r>
          </a:p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Category map → keyword score</a:t>
            </a:r>
          </a:p>
        </p:txBody>
      </p:sp>
      <p:sp>
        <p:nvSpPr>
          <p:cNvPr id="19" name="AutoShape 19"/>
          <p:cNvSpPr/>
          <p:nvPr/>
        </p:nvSpPr>
        <p:spPr>
          <a:xfrm rot="241679">
            <a:off x="7463304" y="3449612"/>
            <a:ext cx="488509" cy="0"/>
          </a:xfrm>
          <a:prstGeom prst="line">
            <a:avLst/>
          </a:prstGeom>
          <a:ln w="19050" cap="rnd">
            <a:solidFill>
              <a:srgbClr val="47556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0" name="Group 20"/>
          <p:cNvGrpSpPr/>
          <p:nvPr/>
        </p:nvGrpSpPr>
        <p:grpSpPr>
          <a:xfrm>
            <a:off x="7878566" y="2387879"/>
            <a:ext cx="3117113" cy="2156241"/>
            <a:chOff x="0" y="0"/>
            <a:chExt cx="4156151" cy="287498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156202" cy="2875026"/>
            </a:xfrm>
            <a:custGeom>
              <a:avLst/>
              <a:gdLst/>
              <a:ahLst/>
              <a:cxnLst/>
              <a:rect l="l" t="t" r="r" b="b"/>
              <a:pathLst>
                <a:path w="4156202" h="2875026">
                  <a:moveTo>
                    <a:pt x="0" y="479171"/>
                  </a:moveTo>
                  <a:cubicBezTo>
                    <a:pt x="0" y="214503"/>
                    <a:pt x="214503" y="0"/>
                    <a:pt x="479171" y="0"/>
                  </a:cubicBezTo>
                  <a:lnTo>
                    <a:pt x="3677031" y="0"/>
                  </a:lnTo>
                  <a:cubicBezTo>
                    <a:pt x="3941699" y="0"/>
                    <a:pt x="4156202" y="214503"/>
                    <a:pt x="4156202" y="479171"/>
                  </a:cubicBezTo>
                  <a:lnTo>
                    <a:pt x="4156202" y="2395855"/>
                  </a:lnTo>
                  <a:cubicBezTo>
                    <a:pt x="4156202" y="2660523"/>
                    <a:pt x="3941699" y="2875026"/>
                    <a:pt x="3677031" y="2875026"/>
                  </a:cubicBezTo>
                  <a:lnTo>
                    <a:pt x="479171" y="2875026"/>
                  </a:lnTo>
                  <a:cubicBezTo>
                    <a:pt x="214503" y="2875026"/>
                    <a:pt x="0" y="2660396"/>
                    <a:pt x="0" y="2395855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8002676" y="2470814"/>
            <a:ext cx="2868882" cy="1990373"/>
            <a:chOff x="0" y="0"/>
            <a:chExt cx="3825176" cy="265383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825179" cy="2653833"/>
            </a:xfrm>
            <a:custGeom>
              <a:avLst/>
              <a:gdLst/>
              <a:ahLst/>
              <a:cxnLst/>
              <a:rect l="l" t="t" r="r" b="b"/>
              <a:pathLst>
                <a:path w="3825179" h="2653833">
                  <a:moveTo>
                    <a:pt x="0" y="0"/>
                  </a:moveTo>
                  <a:lnTo>
                    <a:pt x="3825179" y="0"/>
                  </a:lnTo>
                  <a:lnTo>
                    <a:pt x="3825179" y="2653833"/>
                  </a:lnTo>
                  <a:lnTo>
                    <a:pt x="0" y="265383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014" r="-39014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3825176" cy="26538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82"/>
                </a:lnSpc>
              </a:pPr>
              <a:r>
                <a:rPr lang="en-US" sz="2401" b="1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  <a:p>
              <a:pPr algn="ctr">
                <a:lnSpc>
                  <a:spcPts val="2882"/>
                </a:lnSpc>
              </a:pPr>
              <a:r>
                <a:rPr lang="en-US" sz="2401" b="1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Decide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8149028" y="4752861"/>
            <a:ext cx="2562463" cy="1378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make_decision()</a:t>
            </a:r>
          </a:p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Policy + request + history</a:t>
            </a:r>
          </a:p>
        </p:txBody>
      </p:sp>
      <p:sp>
        <p:nvSpPr>
          <p:cNvPr id="26" name="AutoShape 26"/>
          <p:cNvSpPr/>
          <p:nvPr/>
        </p:nvSpPr>
        <p:spPr>
          <a:xfrm rot="241679">
            <a:off x="10963618" y="3449612"/>
            <a:ext cx="488509" cy="0"/>
          </a:xfrm>
          <a:prstGeom prst="line">
            <a:avLst/>
          </a:prstGeom>
          <a:ln w="19050" cap="rnd">
            <a:solidFill>
              <a:srgbClr val="47556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7" name="Group 27"/>
          <p:cNvGrpSpPr/>
          <p:nvPr/>
        </p:nvGrpSpPr>
        <p:grpSpPr>
          <a:xfrm>
            <a:off x="11378879" y="2387879"/>
            <a:ext cx="3117113" cy="2156241"/>
            <a:chOff x="0" y="0"/>
            <a:chExt cx="4156151" cy="287498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156202" cy="2875026"/>
            </a:xfrm>
            <a:custGeom>
              <a:avLst/>
              <a:gdLst/>
              <a:ahLst/>
              <a:cxnLst/>
              <a:rect l="l" t="t" r="r" b="b"/>
              <a:pathLst>
                <a:path w="4156202" h="2875026">
                  <a:moveTo>
                    <a:pt x="0" y="479171"/>
                  </a:moveTo>
                  <a:cubicBezTo>
                    <a:pt x="0" y="214503"/>
                    <a:pt x="214503" y="0"/>
                    <a:pt x="479171" y="0"/>
                  </a:cubicBezTo>
                  <a:lnTo>
                    <a:pt x="3677031" y="0"/>
                  </a:lnTo>
                  <a:cubicBezTo>
                    <a:pt x="3941699" y="0"/>
                    <a:pt x="4156202" y="214503"/>
                    <a:pt x="4156202" y="479171"/>
                  </a:cubicBezTo>
                  <a:lnTo>
                    <a:pt x="4156202" y="2395855"/>
                  </a:lnTo>
                  <a:cubicBezTo>
                    <a:pt x="4156202" y="2660523"/>
                    <a:pt x="3941699" y="2875026"/>
                    <a:pt x="3677031" y="2875026"/>
                  </a:cubicBezTo>
                  <a:lnTo>
                    <a:pt x="479171" y="2875026"/>
                  </a:lnTo>
                  <a:cubicBezTo>
                    <a:pt x="214503" y="2875026"/>
                    <a:pt x="0" y="2660396"/>
                    <a:pt x="0" y="2395855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11502990" y="2470814"/>
            <a:ext cx="2868882" cy="1990373"/>
            <a:chOff x="0" y="0"/>
            <a:chExt cx="3825176" cy="265383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825179" cy="2653833"/>
            </a:xfrm>
            <a:custGeom>
              <a:avLst/>
              <a:gdLst/>
              <a:ahLst/>
              <a:cxnLst/>
              <a:rect l="l" t="t" r="r" b="b"/>
              <a:pathLst>
                <a:path w="3825179" h="2653833">
                  <a:moveTo>
                    <a:pt x="0" y="0"/>
                  </a:moveTo>
                  <a:lnTo>
                    <a:pt x="3825179" y="0"/>
                  </a:lnTo>
                  <a:lnTo>
                    <a:pt x="3825179" y="2653833"/>
                  </a:lnTo>
                  <a:lnTo>
                    <a:pt x="0" y="265383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014" r="-39014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3825176" cy="26538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82"/>
                </a:lnSpc>
              </a:pPr>
              <a:r>
                <a:rPr lang="en-US" sz="2401" b="1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  <a:p>
              <a:pPr algn="ctr">
                <a:lnSpc>
                  <a:spcPts val="2882"/>
                </a:lnSpc>
              </a:pPr>
              <a:r>
                <a:rPr lang="en-US" sz="2401" b="1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Act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1649342" y="4752861"/>
            <a:ext cx="2562463" cy="1378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Resolve / follow-up /</a:t>
            </a:r>
          </a:p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create ticket</a:t>
            </a:r>
          </a:p>
        </p:txBody>
      </p:sp>
      <p:sp>
        <p:nvSpPr>
          <p:cNvPr id="33" name="AutoShape 33"/>
          <p:cNvSpPr/>
          <p:nvPr/>
        </p:nvSpPr>
        <p:spPr>
          <a:xfrm rot="241679">
            <a:off x="14463932" y="3449612"/>
            <a:ext cx="488509" cy="0"/>
          </a:xfrm>
          <a:prstGeom prst="line">
            <a:avLst/>
          </a:prstGeom>
          <a:ln w="19050" cap="rnd">
            <a:solidFill>
              <a:srgbClr val="47556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4" name="Group 34"/>
          <p:cNvGrpSpPr/>
          <p:nvPr/>
        </p:nvGrpSpPr>
        <p:grpSpPr>
          <a:xfrm>
            <a:off x="14879193" y="2387879"/>
            <a:ext cx="3117113" cy="2156241"/>
            <a:chOff x="0" y="0"/>
            <a:chExt cx="4156151" cy="287498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156202" cy="2875026"/>
            </a:xfrm>
            <a:custGeom>
              <a:avLst/>
              <a:gdLst/>
              <a:ahLst/>
              <a:cxnLst/>
              <a:rect l="l" t="t" r="r" b="b"/>
              <a:pathLst>
                <a:path w="4156202" h="2875026">
                  <a:moveTo>
                    <a:pt x="0" y="479171"/>
                  </a:moveTo>
                  <a:cubicBezTo>
                    <a:pt x="0" y="214503"/>
                    <a:pt x="214503" y="0"/>
                    <a:pt x="479171" y="0"/>
                  </a:cubicBezTo>
                  <a:lnTo>
                    <a:pt x="3677031" y="0"/>
                  </a:lnTo>
                  <a:cubicBezTo>
                    <a:pt x="3941699" y="0"/>
                    <a:pt x="4156202" y="214503"/>
                    <a:pt x="4156202" y="479171"/>
                  </a:cubicBezTo>
                  <a:lnTo>
                    <a:pt x="4156202" y="2395855"/>
                  </a:lnTo>
                  <a:cubicBezTo>
                    <a:pt x="4156202" y="2660523"/>
                    <a:pt x="3941699" y="2875026"/>
                    <a:pt x="3677031" y="2875026"/>
                  </a:cubicBezTo>
                  <a:lnTo>
                    <a:pt x="479171" y="2875026"/>
                  </a:lnTo>
                  <a:cubicBezTo>
                    <a:pt x="214503" y="2875026"/>
                    <a:pt x="0" y="2660396"/>
                    <a:pt x="0" y="2395855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10B981"/>
              </a:solidFill>
              <a:prstDash val="solid"/>
              <a:miter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15003313" y="2470814"/>
            <a:ext cx="2868882" cy="1990373"/>
            <a:chOff x="0" y="0"/>
            <a:chExt cx="3825176" cy="265383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825179" cy="2653833"/>
            </a:xfrm>
            <a:custGeom>
              <a:avLst/>
              <a:gdLst/>
              <a:ahLst/>
              <a:cxnLst/>
              <a:rect l="l" t="t" r="r" b="b"/>
              <a:pathLst>
                <a:path w="3825179" h="2653833">
                  <a:moveTo>
                    <a:pt x="0" y="0"/>
                  </a:moveTo>
                  <a:lnTo>
                    <a:pt x="3825179" y="0"/>
                  </a:lnTo>
                  <a:lnTo>
                    <a:pt x="3825179" y="2653833"/>
                  </a:lnTo>
                  <a:lnTo>
                    <a:pt x="0" y="265383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014" r="-39014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3825176" cy="26538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82"/>
                </a:lnSpc>
              </a:pPr>
              <a:r>
                <a:rPr lang="en-US" sz="2401" b="1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</a:t>
              </a:r>
            </a:p>
            <a:p>
              <a:pPr algn="ctr">
                <a:lnSpc>
                  <a:spcPts val="2882"/>
                </a:lnSpc>
              </a:pPr>
              <a:r>
                <a:rPr lang="en-US" sz="2401" b="1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Respond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5149655" y="4752861"/>
            <a:ext cx="2562463" cy="1378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generate_response()</a:t>
            </a:r>
          </a:p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Employee-facing message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1022356" y="6856209"/>
            <a:ext cx="5024552" cy="1592875"/>
            <a:chOff x="0" y="0"/>
            <a:chExt cx="6699402" cy="2123834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699377" cy="2123821"/>
            </a:xfrm>
            <a:custGeom>
              <a:avLst/>
              <a:gdLst/>
              <a:ahLst/>
              <a:cxnLst/>
              <a:rect l="l" t="t" r="r" b="b"/>
              <a:pathLst>
                <a:path w="6699377" h="2123821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6345428" y="0"/>
                  </a:lnTo>
                  <a:cubicBezTo>
                    <a:pt x="6540881" y="0"/>
                    <a:pt x="6699377" y="158496"/>
                    <a:pt x="6699377" y="353949"/>
                  </a:cubicBezTo>
                  <a:lnTo>
                    <a:pt x="6699377" y="1769872"/>
                  </a:lnTo>
                  <a:cubicBezTo>
                    <a:pt x="6699377" y="1965325"/>
                    <a:pt x="6540881" y="2123821"/>
                    <a:pt x="6345428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1029500" y="6863363"/>
            <a:ext cx="96088" cy="1578569"/>
            <a:chOff x="0" y="0"/>
            <a:chExt cx="128118" cy="2104758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28143" cy="2104771"/>
            </a:xfrm>
            <a:custGeom>
              <a:avLst/>
              <a:gdLst/>
              <a:ahLst/>
              <a:cxnLst/>
              <a:rect l="l" t="t" r="r" b="b"/>
              <a:pathLst>
                <a:path w="128143" h="2104771">
                  <a:moveTo>
                    <a:pt x="0" y="0"/>
                  </a:moveTo>
                  <a:lnTo>
                    <a:pt x="128143" y="0"/>
                  </a:lnTo>
                  <a:lnTo>
                    <a:pt x="128143" y="2104771"/>
                  </a:lnTo>
                  <a:lnTo>
                    <a:pt x="0" y="2104771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sp>
        <p:nvSpPr>
          <p:cNvPr id="44" name="TextBox 44"/>
          <p:cNvSpPr txBox="1"/>
          <p:nvPr/>
        </p:nvSpPr>
        <p:spPr>
          <a:xfrm>
            <a:off x="1422930" y="7119185"/>
            <a:ext cx="4278306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Self-service example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422930" y="7705230"/>
            <a:ext cx="4250855" cy="498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Guest Wi-Fi → KB-07 → no ticket; use front-desk kiosk.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6650307" y="6856209"/>
            <a:ext cx="5024552" cy="1592875"/>
            <a:chOff x="0" y="0"/>
            <a:chExt cx="6699402" cy="2123834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6699377" cy="2123821"/>
            </a:xfrm>
            <a:custGeom>
              <a:avLst/>
              <a:gdLst/>
              <a:ahLst/>
              <a:cxnLst/>
              <a:rect l="l" t="t" r="r" b="b"/>
              <a:pathLst>
                <a:path w="6699377" h="2123821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6345428" y="0"/>
                  </a:lnTo>
                  <a:cubicBezTo>
                    <a:pt x="6540881" y="0"/>
                    <a:pt x="6699377" y="158496"/>
                    <a:pt x="6699377" y="353949"/>
                  </a:cubicBezTo>
                  <a:lnTo>
                    <a:pt x="6699377" y="1769872"/>
                  </a:lnTo>
                  <a:cubicBezTo>
                    <a:pt x="6699377" y="1965325"/>
                    <a:pt x="6540881" y="2123821"/>
                    <a:pt x="6345428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6657461" y="6863363"/>
            <a:ext cx="96088" cy="1578569"/>
            <a:chOff x="0" y="0"/>
            <a:chExt cx="128118" cy="2104758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28143" cy="2104771"/>
            </a:xfrm>
            <a:custGeom>
              <a:avLst/>
              <a:gdLst/>
              <a:ahLst/>
              <a:cxnLst/>
              <a:rect l="l" t="t" r="r" b="b"/>
              <a:pathLst>
                <a:path w="128143" h="2104771">
                  <a:moveTo>
                    <a:pt x="0" y="0"/>
                  </a:moveTo>
                  <a:lnTo>
                    <a:pt x="128143" y="0"/>
                  </a:lnTo>
                  <a:lnTo>
                    <a:pt x="128143" y="2104771"/>
                  </a:lnTo>
                  <a:lnTo>
                    <a:pt x="0" y="2104771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sp>
        <p:nvSpPr>
          <p:cNvPr id="50" name="TextBox 50"/>
          <p:cNvSpPr txBox="1"/>
          <p:nvPr/>
        </p:nvSpPr>
        <p:spPr>
          <a:xfrm>
            <a:off x="7050891" y="7119185"/>
            <a:ext cx="4278306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Approval example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050891" y="7705230"/>
            <a:ext cx="4250855" cy="498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Contractor VPN → KB-02 → manager approval → ticket/human path.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12278268" y="6856209"/>
            <a:ext cx="5024552" cy="1592875"/>
            <a:chOff x="0" y="0"/>
            <a:chExt cx="6699402" cy="2123834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6699377" cy="2123821"/>
            </a:xfrm>
            <a:custGeom>
              <a:avLst/>
              <a:gdLst/>
              <a:ahLst/>
              <a:cxnLst/>
              <a:rect l="l" t="t" r="r" b="b"/>
              <a:pathLst>
                <a:path w="6699377" h="2123821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6345428" y="0"/>
                  </a:lnTo>
                  <a:cubicBezTo>
                    <a:pt x="6540881" y="0"/>
                    <a:pt x="6699377" y="158496"/>
                    <a:pt x="6699377" y="353949"/>
                  </a:cubicBezTo>
                  <a:lnTo>
                    <a:pt x="6699377" y="1769872"/>
                  </a:lnTo>
                  <a:cubicBezTo>
                    <a:pt x="6699377" y="1965325"/>
                    <a:pt x="6540881" y="2123821"/>
                    <a:pt x="6345428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12285421" y="6863363"/>
            <a:ext cx="96088" cy="1578569"/>
            <a:chOff x="0" y="0"/>
            <a:chExt cx="128118" cy="2104758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28143" cy="2104771"/>
            </a:xfrm>
            <a:custGeom>
              <a:avLst/>
              <a:gdLst/>
              <a:ahLst/>
              <a:cxnLst/>
              <a:rect l="l" t="t" r="r" b="b"/>
              <a:pathLst>
                <a:path w="128143" h="2104771">
                  <a:moveTo>
                    <a:pt x="0" y="0"/>
                  </a:moveTo>
                  <a:lnTo>
                    <a:pt x="128143" y="0"/>
                  </a:lnTo>
                  <a:lnTo>
                    <a:pt x="128143" y="2104771"/>
                  </a:lnTo>
                  <a:lnTo>
                    <a:pt x="0" y="2104771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sp>
        <p:nvSpPr>
          <p:cNvPr id="56" name="TextBox 56"/>
          <p:cNvSpPr txBox="1"/>
          <p:nvPr/>
        </p:nvSpPr>
        <p:spPr>
          <a:xfrm>
            <a:off x="12678842" y="7119185"/>
            <a:ext cx="4278306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Security example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2678842" y="7705230"/>
            <a:ext cx="4250855" cy="498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Phishing → KB-09 → immediate Security escalation + ticket.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6288979" y="9735664"/>
            <a:ext cx="915257" cy="280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1">
                <a:solidFill>
                  <a:srgbClr val="47556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23539"/>
            <a:chOff x="0" y="0"/>
            <a:chExt cx="24402453" cy="164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64719"/>
            </a:xfrm>
            <a:custGeom>
              <a:avLst/>
              <a:gdLst/>
              <a:ahLst/>
              <a:cxnLst/>
              <a:rect l="l" t="t" r="r" b="b"/>
              <a:pathLst>
                <a:path w="24402414" h="164719">
                  <a:moveTo>
                    <a:pt x="0" y="0"/>
                  </a:moveTo>
                  <a:lnTo>
                    <a:pt x="24402414" y="0"/>
                  </a:lnTo>
                  <a:lnTo>
                    <a:pt x="24402414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983675" y="484975"/>
            <a:ext cx="16289188" cy="800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1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Inputs, Sources &amp; Assumptions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4861" y="1308583"/>
            <a:ext cx="16014659" cy="457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The implementation separates employee input from grounded policy and historical context.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53719" y="2120494"/>
            <a:ext cx="5093189" cy="6534493"/>
            <a:chOff x="0" y="0"/>
            <a:chExt cx="6790919" cy="871265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790944" cy="8712581"/>
            </a:xfrm>
            <a:custGeom>
              <a:avLst/>
              <a:gdLst/>
              <a:ahLst/>
              <a:cxnLst/>
              <a:rect l="l" t="t" r="r" b="b"/>
              <a:pathLst>
                <a:path w="6790944" h="8712581">
                  <a:moveTo>
                    <a:pt x="0" y="1131824"/>
                  </a:moveTo>
                  <a:cubicBezTo>
                    <a:pt x="0" y="506730"/>
                    <a:pt x="506730" y="0"/>
                    <a:pt x="1131824" y="0"/>
                  </a:cubicBezTo>
                  <a:lnTo>
                    <a:pt x="5659120" y="0"/>
                  </a:lnTo>
                  <a:cubicBezTo>
                    <a:pt x="6284214" y="0"/>
                    <a:pt x="6790944" y="506730"/>
                    <a:pt x="6790944" y="1131824"/>
                  </a:cubicBezTo>
                  <a:lnTo>
                    <a:pt x="6790944" y="7580757"/>
                  </a:lnTo>
                  <a:cubicBezTo>
                    <a:pt x="6790944" y="8205851"/>
                    <a:pt x="6284214" y="8712581"/>
                    <a:pt x="5659120" y="8712581"/>
                  </a:cubicBezTo>
                  <a:lnTo>
                    <a:pt x="1131824" y="8712581"/>
                  </a:lnTo>
                  <a:cubicBezTo>
                    <a:pt x="506730" y="8712708"/>
                    <a:pt x="0" y="8205851"/>
                    <a:pt x="0" y="7580757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960872" y="2127647"/>
            <a:ext cx="96088" cy="6520196"/>
            <a:chOff x="0" y="0"/>
            <a:chExt cx="128118" cy="869359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8143" cy="8693531"/>
            </a:xfrm>
            <a:custGeom>
              <a:avLst/>
              <a:gdLst/>
              <a:ahLst/>
              <a:cxnLst/>
              <a:rect l="l" t="t" r="r" b="b"/>
              <a:pathLst>
                <a:path w="128143" h="8693531">
                  <a:moveTo>
                    <a:pt x="0" y="0"/>
                  </a:moveTo>
                  <a:lnTo>
                    <a:pt x="128143" y="0"/>
                  </a:lnTo>
                  <a:lnTo>
                    <a:pt x="128143" y="8693531"/>
                  </a:lnTo>
                  <a:lnTo>
                    <a:pt x="0" y="8693531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354293" y="2392994"/>
            <a:ext cx="4346943" cy="38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1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Inputs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54293" y="2969514"/>
            <a:ext cx="4319483" cy="5440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• Employee name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• Employee email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• Free-text support request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• Admin password for admin login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• Policy data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• Historical ticket context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581680" y="2120494"/>
            <a:ext cx="5093189" cy="6534493"/>
            <a:chOff x="0" y="0"/>
            <a:chExt cx="6790919" cy="871265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790944" cy="8712581"/>
            </a:xfrm>
            <a:custGeom>
              <a:avLst/>
              <a:gdLst/>
              <a:ahLst/>
              <a:cxnLst/>
              <a:rect l="l" t="t" r="r" b="b"/>
              <a:pathLst>
                <a:path w="6790944" h="8712581">
                  <a:moveTo>
                    <a:pt x="0" y="1131824"/>
                  </a:moveTo>
                  <a:cubicBezTo>
                    <a:pt x="0" y="506730"/>
                    <a:pt x="506730" y="0"/>
                    <a:pt x="1131824" y="0"/>
                  </a:cubicBezTo>
                  <a:lnTo>
                    <a:pt x="5659120" y="0"/>
                  </a:lnTo>
                  <a:cubicBezTo>
                    <a:pt x="6284214" y="0"/>
                    <a:pt x="6790944" y="506730"/>
                    <a:pt x="6790944" y="1131824"/>
                  </a:cubicBezTo>
                  <a:lnTo>
                    <a:pt x="6790944" y="7580757"/>
                  </a:lnTo>
                  <a:cubicBezTo>
                    <a:pt x="6790944" y="8205851"/>
                    <a:pt x="6284214" y="8712581"/>
                    <a:pt x="5659120" y="8712581"/>
                  </a:cubicBezTo>
                  <a:lnTo>
                    <a:pt x="1131824" y="8712581"/>
                  </a:lnTo>
                  <a:cubicBezTo>
                    <a:pt x="506730" y="8712708"/>
                    <a:pt x="0" y="8205851"/>
                    <a:pt x="0" y="7580757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588824" y="2127647"/>
            <a:ext cx="96088" cy="6520196"/>
            <a:chOff x="0" y="0"/>
            <a:chExt cx="128118" cy="869359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8143" cy="8693531"/>
            </a:xfrm>
            <a:custGeom>
              <a:avLst/>
              <a:gdLst/>
              <a:ahLst/>
              <a:cxnLst/>
              <a:rect l="l" t="t" r="r" b="b"/>
              <a:pathLst>
                <a:path w="128143" h="8693531">
                  <a:moveTo>
                    <a:pt x="0" y="0"/>
                  </a:moveTo>
                  <a:lnTo>
                    <a:pt x="128143" y="0"/>
                  </a:lnTo>
                  <a:lnTo>
                    <a:pt x="128143" y="8693531"/>
                  </a:lnTo>
                  <a:lnTo>
                    <a:pt x="0" y="8693531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6982254" y="2392994"/>
            <a:ext cx="4346943" cy="38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1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Sources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982254" y="2969514"/>
            <a:ext cx="4319483" cy="5440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policies.json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Official IT policy knowledge base</a:t>
            </a:r>
          </a:p>
          <a:p>
            <a:pPr algn="l">
              <a:lnSpc>
                <a:spcPts val="2341"/>
              </a:lnSpc>
            </a:pPr>
            <a:endParaRPr lang="en-US" sz="1951">
              <a:solidFill>
                <a:srgbClr val="475569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veridian_it.db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Tickets, audit logs, settings</a:t>
            </a:r>
          </a:p>
          <a:p>
            <a:pPr algn="l">
              <a:lnSpc>
                <a:spcPts val="2341"/>
              </a:lnSpc>
            </a:pPr>
            <a:endParaRPr lang="en-US" sz="1951">
              <a:solidFill>
                <a:srgbClr val="475569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tickets.json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Historical tickets seeded into SQLite</a:t>
            </a:r>
          </a:p>
          <a:p>
            <a:pPr algn="l">
              <a:lnSpc>
                <a:spcPts val="2341"/>
              </a:lnSpc>
            </a:pPr>
            <a:endParaRPr lang="en-US" sz="1951">
              <a:solidFill>
                <a:srgbClr val="475569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Ollama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gpt-oss:20b runtime model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2209631" y="2120494"/>
            <a:ext cx="5093189" cy="6534493"/>
            <a:chOff x="0" y="0"/>
            <a:chExt cx="6790919" cy="871265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790944" cy="8712581"/>
            </a:xfrm>
            <a:custGeom>
              <a:avLst/>
              <a:gdLst/>
              <a:ahLst/>
              <a:cxnLst/>
              <a:rect l="l" t="t" r="r" b="b"/>
              <a:pathLst>
                <a:path w="6790944" h="8712581">
                  <a:moveTo>
                    <a:pt x="0" y="1131824"/>
                  </a:moveTo>
                  <a:cubicBezTo>
                    <a:pt x="0" y="506730"/>
                    <a:pt x="506730" y="0"/>
                    <a:pt x="1131824" y="0"/>
                  </a:cubicBezTo>
                  <a:lnTo>
                    <a:pt x="5659120" y="0"/>
                  </a:lnTo>
                  <a:cubicBezTo>
                    <a:pt x="6284214" y="0"/>
                    <a:pt x="6790944" y="506730"/>
                    <a:pt x="6790944" y="1131824"/>
                  </a:cubicBezTo>
                  <a:lnTo>
                    <a:pt x="6790944" y="7580757"/>
                  </a:lnTo>
                  <a:cubicBezTo>
                    <a:pt x="6790944" y="8205851"/>
                    <a:pt x="6284214" y="8712581"/>
                    <a:pt x="5659120" y="8712581"/>
                  </a:cubicBezTo>
                  <a:lnTo>
                    <a:pt x="1131824" y="8712581"/>
                  </a:lnTo>
                  <a:cubicBezTo>
                    <a:pt x="506730" y="8712708"/>
                    <a:pt x="0" y="8205851"/>
                    <a:pt x="0" y="7580757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12216784" y="2127647"/>
            <a:ext cx="96088" cy="6520196"/>
            <a:chOff x="0" y="0"/>
            <a:chExt cx="128118" cy="869359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8143" cy="8693531"/>
            </a:xfrm>
            <a:custGeom>
              <a:avLst/>
              <a:gdLst/>
              <a:ahLst/>
              <a:cxnLst/>
              <a:rect l="l" t="t" r="r" b="b"/>
              <a:pathLst>
                <a:path w="128143" h="8693531">
                  <a:moveTo>
                    <a:pt x="0" y="0"/>
                  </a:moveTo>
                  <a:lnTo>
                    <a:pt x="128143" y="0"/>
                  </a:lnTo>
                  <a:lnTo>
                    <a:pt x="128143" y="8693531"/>
                  </a:lnTo>
                  <a:lnTo>
                    <a:pt x="0" y="8693531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12610214" y="2392994"/>
            <a:ext cx="4346943" cy="38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1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Grounding approach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610214" y="2969514"/>
            <a:ext cx="4319483" cy="5440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1. Category → policy mapping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2. Keyword scoring fallback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3. Retrieved policy becomes decision context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4. Historical tickets provide precedent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5. LLM outputs structured JSON for decisioning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502788" y="8846591"/>
            <a:ext cx="15250963" cy="632003"/>
            <a:chOff x="0" y="0"/>
            <a:chExt cx="20334618" cy="84267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0334605" cy="842645"/>
            </a:xfrm>
            <a:custGeom>
              <a:avLst/>
              <a:gdLst/>
              <a:ahLst/>
              <a:cxnLst/>
              <a:rect l="l" t="t" r="r" b="b"/>
              <a:pathLst>
                <a:path w="20334605" h="842645">
                  <a:moveTo>
                    <a:pt x="0" y="140462"/>
                  </a:moveTo>
                  <a:cubicBezTo>
                    <a:pt x="0" y="62865"/>
                    <a:pt x="62865" y="0"/>
                    <a:pt x="140462" y="0"/>
                  </a:cubicBezTo>
                  <a:lnTo>
                    <a:pt x="20194143" y="0"/>
                  </a:lnTo>
                  <a:cubicBezTo>
                    <a:pt x="20271739" y="0"/>
                    <a:pt x="20334605" y="62865"/>
                    <a:pt x="20334605" y="140462"/>
                  </a:cubicBezTo>
                  <a:lnTo>
                    <a:pt x="20334605" y="702183"/>
                  </a:lnTo>
                  <a:cubicBezTo>
                    <a:pt x="20334605" y="779780"/>
                    <a:pt x="20271739" y="842645"/>
                    <a:pt x="20194143" y="842645"/>
                  </a:cubicBezTo>
                  <a:lnTo>
                    <a:pt x="140462" y="842645"/>
                  </a:lnTo>
                  <a:cubicBezTo>
                    <a:pt x="62865" y="842645"/>
                    <a:pt x="0" y="779780"/>
                    <a:pt x="0" y="70218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1807283" y="8962768"/>
            <a:ext cx="14641982" cy="339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91"/>
              </a:lnSpc>
            </a:pPr>
            <a:r>
              <a:rPr lang="en-US" sz="1576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Implementation assumption: Ollama is available at the configured runtime endpoint; secrets are kept in environment configuration.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288979" y="9735664"/>
            <a:ext cx="915257" cy="280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1">
                <a:solidFill>
                  <a:srgbClr val="47556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23539"/>
            <a:chOff x="0" y="0"/>
            <a:chExt cx="24402453" cy="164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64719"/>
            </a:xfrm>
            <a:custGeom>
              <a:avLst/>
              <a:gdLst/>
              <a:ahLst/>
              <a:cxnLst/>
              <a:rect l="l" t="t" r="r" b="b"/>
              <a:pathLst>
                <a:path w="24402414" h="164719">
                  <a:moveTo>
                    <a:pt x="0" y="0"/>
                  </a:moveTo>
                  <a:lnTo>
                    <a:pt x="24402414" y="0"/>
                  </a:lnTo>
                  <a:lnTo>
                    <a:pt x="24402414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885092" y="2051856"/>
            <a:ext cx="7083562" cy="6809022"/>
            <a:chOff x="0" y="0"/>
            <a:chExt cx="9444749" cy="907869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44863" cy="9078723"/>
            </a:xfrm>
            <a:custGeom>
              <a:avLst/>
              <a:gdLst/>
              <a:ahLst/>
              <a:cxnLst/>
              <a:rect l="l" t="t" r="r" b="b"/>
              <a:pathLst>
                <a:path w="9444863" h="9078723">
                  <a:moveTo>
                    <a:pt x="0" y="1513205"/>
                  </a:moveTo>
                  <a:cubicBezTo>
                    <a:pt x="0" y="677418"/>
                    <a:pt x="677418" y="0"/>
                    <a:pt x="1513205" y="0"/>
                  </a:cubicBezTo>
                  <a:lnTo>
                    <a:pt x="7931658" y="0"/>
                  </a:lnTo>
                  <a:cubicBezTo>
                    <a:pt x="8767318" y="0"/>
                    <a:pt x="9444863" y="677418"/>
                    <a:pt x="9444863" y="1513205"/>
                  </a:cubicBezTo>
                  <a:lnTo>
                    <a:pt x="9444863" y="7565517"/>
                  </a:lnTo>
                  <a:cubicBezTo>
                    <a:pt x="9444863" y="8401177"/>
                    <a:pt x="8767445" y="9078723"/>
                    <a:pt x="7931658" y="9078723"/>
                  </a:cubicBezTo>
                  <a:lnTo>
                    <a:pt x="1513205" y="9078723"/>
                  </a:lnTo>
                  <a:cubicBezTo>
                    <a:pt x="677418" y="9078722"/>
                    <a:pt x="0" y="8401304"/>
                    <a:pt x="0" y="7565517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892235" y="2059010"/>
            <a:ext cx="96088" cy="6794725"/>
            <a:chOff x="0" y="0"/>
            <a:chExt cx="128118" cy="905963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8143" cy="9059672"/>
            </a:xfrm>
            <a:custGeom>
              <a:avLst/>
              <a:gdLst/>
              <a:ahLst/>
              <a:cxnLst/>
              <a:rect l="l" t="t" r="r" b="b"/>
              <a:pathLst>
                <a:path w="128143" h="9059672">
                  <a:moveTo>
                    <a:pt x="0" y="0"/>
                  </a:moveTo>
                  <a:lnTo>
                    <a:pt x="128143" y="0"/>
                  </a:lnTo>
                  <a:lnTo>
                    <a:pt x="128143" y="9059672"/>
                  </a:lnTo>
                  <a:lnTo>
                    <a:pt x="0" y="9059672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8427634" y="1928031"/>
            <a:ext cx="1744437" cy="1227933"/>
            <a:chOff x="0" y="0"/>
            <a:chExt cx="2325916" cy="163724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25878" cy="1637218"/>
            </a:xfrm>
            <a:custGeom>
              <a:avLst/>
              <a:gdLst/>
              <a:ahLst/>
              <a:cxnLst/>
              <a:rect l="l" t="t" r="r" b="b"/>
              <a:pathLst>
                <a:path w="2325878" h="1637218">
                  <a:moveTo>
                    <a:pt x="0" y="272840"/>
                  </a:moveTo>
                  <a:cubicBezTo>
                    <a:pt x="0" y="122206"/>
                    <a:pt x="173609" y="0"/>
                    <a:pt x="387604" y="0"/>
                  </a:cubicBezTo>
                  <a:lnTo>
                    <a:pt x="1938274" y="0"/>
                  </a:lnTo>
                  <a:cubicBezTo>
                    <a:pt x="2152396" y="0"/>
                    <a:pt x="2325878" y="122206"/>
                    <a:pt x="2325878" y="272840"/>
                  </a:cubicBezTo>
                  <a:lnTo>
                    <a:pt x="2325878" y="1364378"/>
                  </a:lnTo>
                  <a:cubicBezTo>
                    <a:pt x="2325878" y="1515101"/>
                    <a:pt x="2152269" y="1637218"/>
                    <a:pt x="1938274" y="1637218"/>
                  </a:cubicBezTo>
                  <a:lnTo>
                    <a:pt x="387604" y="1637218"/>
                  </a:lnTo>
                  <a:cubicBezTo>
                    <a:pt x="173609" y="1637218"/>
                    <a:pt x="0" y="1515101"/>
                    <a:pt x="0" y="1364378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8551745" y="1986410"/>
            <a:ext cx="1496216" cy="1111176"/>
            <a:chOff x="0" y="0"/>
            <a:chExt cx="1994954" cy="148156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94951" cy="1481574"/>
            </a:xfrm>
            <a:custGeom>
              <a:avLst/>
              <a:gdLst/>
              <a:ahLst/>
              <a:cxnLst/>
              <a:rect l="l" t="t" r="r" b="b"/>
              <a:pathLst>
                <a:path w="1994951" h="1481574">
                  <a:moveTo>
                    <a:pt x="0" y="0"/>
                  </a:moveTo>
                  <a:lnTo>
                    <a:pt x="1994951" y="0"/>
                  </a:lnTo>
                  <a:lnTo>
                    <a:pt x="1994951" y="1481574"/>
                  </a:lnTo>
                  <a:lnTo>
                    <a:pt x="0" y="14815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5365" r="-85365" b="-4206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994954" cy="14815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1"/>
                </a:lnSpc>
              </a:pPr>
              <a:r>
                <a:rPr lang="en-US" sz="1651" b="1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User</a:t>
              </a:r>
            </a:p>
            <a:p>
              <a:pPr algn="ctr">
                <a:lnSpc>
                  <a:spcPts val="1981"/>
                </a:lnSpc>
              </a:pPr>
              <a:r>
                <a:rPr lang="en-US" sz="1651" b="1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Submit request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>
            <a:off x="10140617" y="2534752"/>
            <a:ext cx="377481" cy="24154"/>
          </a:xfrm>
          <a:prstGeom prst="line">
            <a:avLst/>
          </a:prstGeom>
          <a:ln w="19050" cap="rnd">
            <a:solidFill>
              <a:srgbClr val="47556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4"/>
          <p:cNvGrpSpPr/>
          <p:nvPr/>
        </p:nvGrpSpPr>
        <p:grpSpPr>
          <a:xfrm>
            <a:off x="10486644" y="1928031"/>
            <a:ext cx="1744437" cy="1227933"/>
            <a:chOff x="0" y="0"/>
            <a:chExt cx="2325916" cy="163724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25878" cy="1637218"/>
            </a:xfrm>
            <a:custGeom>
              <a:avLst/>
              <a:gdLst/>
              <a:ahLst/>
              <a:cxnLst/>
              <a:rect l="l" t="t" r="r" b="b"/>
              <a:pathLst>
                <a:path w="2325878" h="1637218">
                  <a:moveTo>
                    <a:pt x="0" y="272840"/>
                  </a:moveTo>
                  <a:cubicBezTo>
                    <a:pt x="0" y="122206"/>
                    <a:pt x="173609" y="0"/>
                    <a:pt x="387604" y="0"/>
                  </a:cubicBezTo>
                  <a:lnTo>
                    <a:pt x="1938274" y="0"/>
                  </a:lnTo>
                  <a:cubicBezTo>
                    <a:pt x="2152396" y="0"/>
                    <a:pt x="2325878" y="122206"/>
                    <a:pt x="2325878" y="272840"/>
                  </a:cubicBezTo>
                  <a:lnTo>
                    <a:pt x="2325878" y="1364378"/>
                  </a:lnTo>
                  <a:cubicBezTo>
                    <a:pt x="2325878" y="1515101"/>
                    <a:pt x="2152269" y="1637218"/>
                    <a:pt x="1938274" y="1637218"/>
                  </a:cubicBezTo>
                  <a:lnTo>
                    <a:pt x="387604" y="1637218"/>
                  </a:lnTo>
                  <a:cubicBezTo>
                    <a:pt x="173609" y="1637218"/>
                    <a:pt x="0" y="1515101"/>
                    <a:pt x="0" y="1364378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06B6D4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0610755" y="1986410"/>
            <a:ext cx="1496216" cy="1111176"/>
            <a:chOff x="0" y="0"/>
            <a:chExt cx="1994954" cy="148156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994951" cy="1481574"/>
            </a:xfrm>
            <a:custGeom>
              <a:avLst/>
              <a:gdLst/>
              <a:ahLst/>
              <a:cxnLst/>
              <a:rect l="l" t="t" r="r" b="b"/>
              <a:pathLst>
                <a:path w="1994951" h="1481574">
                  <a:moveTo>
                    <a:pt x="0" y="0"/>
                  </a:moveTo>
                  <a:lnTo>
                    <a:pt x="1994951" y="0"/>
                  </a:lnTo>
                  <a:lnTo>
                    <a:pt x="1994951" y="1481574"/>
                  </a:lnTo>
                  <a:lnTo>
                    <a:pt x="0" y="14815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5365" r="-85365" b="-42062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1994954" cy="14815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1"/>
                </a:lnSpc>
              </a:pPr>
              <a:r>
                <a:rPr lang="en-US" sz="1651" b="1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script.js</a:t>
              </a:r>
            </a:p>
            <a:p>
              <a:pPr algn="ctr">
                <a:lnSpc>
                  <a:spcPts val="1981"/>
                </a:lnSpc>
              </a:pPr>
              <a:r>
                <a:rPr lang="en-US" sz="1651" b="1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POST request</a:t>
              </a:r>
            </a:p>
          </p:txBody>
        </p:sp>
      </p:grpSp>
      <p:sp>
        <p:nvSpPr>
          <p:cNvPr id="19" name="AutoShape 19"/>
          <p:cNvSpPr/>
          <p:nvPr/>
        </p:nvSpPr>
        <p:spPr>
          <a:xfrm>
            <a:off x="12199627" y="2534752"/>
            <a:ext cx="377481" cy="24154"/>
          </a:xfrm>
          <a:prstGeom prst="line">
            <a:avLst/>
          </a:prstGeom>
          <a:ln w="19050" cap="rnd">
            <a:solidFill>
              <a:srgbClr val="47556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0" name="Group 20"/>
          <p:cNvGrpSpPr/>
          <p:nvPr/>
        </p:nvGrpSpPr>
        <p:grpSpPr>
          <a:xfrm>
            <a:off x="12545654" y="1928031"/>
            <a:ext cx="1744437" cy="1227933"/>
            <a:chOff x="0" y="0"/>
            <a:chExt cx="2325916" cy="163724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325878" cy="1637218"/>
            </a:xfrm>
            <a:custGeom>
              <a:avLst/>
              <a:gdLst/>
              <a:ahLst/>
              <a:cxnLst/>
              <a:rect l="l" t="t" r="r" b="b"/>
              <a:pathLst>
                <a:path w="2325878" h="1637218">
                  <a:moveTo>
                    <a:pt x="0" y="272840"/>
                  </a:moveTo>
                  <a:cubicBezTo>
                    <a:pt x="0" y="122206"/>
                    <a:pt x="173609" y="0"/>
                    <a:pt x="387604" y="0"/>
                  </a:cubicBezTo>
                  <a:lnTo>
                    <a:pt x="1938274" y="0"/>
                  </a:lnTo>
                  <a:cubicBezTo>
                    <a:pt x="2152396" y="0"/>
                    <a:pt x="2325878" y="122206"/>
                    <a:pt x="2325878" y="272840"/>
                  </a:cubicBezTo>
                  <a:lnTo>
                    <a:pt x="2325878" y="1364378"/>
                  </a:lnTo>
                  <a:cubicBezTo>
                    <a:pt x="2325878" y="1515101"/>
                    <a:pt x="2152269" y="1637218"/>
                    <a:pt x="1938274" y="1637218"/>
                  </a:cubicBezTo>
                  <a:lnTo>
                    <a:pt x="387604" y="1637218"/>
                  </a:lnTo>
                  <a:cubicBezTo>
                    <a:pt x="173609" y="1637218"/>
                    <a:pt x="0" y="1515101"/>
                    <a:pt x="0" y="1364378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12669764" y="1986410"/>
            <a:ext cx="1496216" cy="1111176"/>
            <a:chOff x="0" y="0"/>
            <a:chExt cx="1994954" cy="148156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994951" cy="1481574"/>
            </a:xfrm>
            <a:custGeom>
              <a:avLst/>
              <a:gdLst/>
              <a:ahLst/>
              <a:cxnLst/>
              <a:rect l="l" t="t" r="r" b="b"/>
              <a:pathLst>
                <a:path w="1994951" h="1481574">
                  <a:moveTo>
                    <a:pt x="0" y="0"/>
                  </a:moveTo>
                  <a:lnTo>
                    <a:pt x="1994951" y="0"/>
                  </a:lnTo>
                  <a:lnTo>
                    <a:pt x="1994951" y="1481574"/>
                  </a:lnTo>
                  <a:lnTo>
                    <a:pt x="0" y="14815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5365" r="-85365" b="-42062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1994954" cy="14815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1"/>
                </a:lnSpc>
              </a:pPr>
              <a:r>
                <a:rPr lang="en-US" sz="1651" b="1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agent.py</a:t>
              </a:r>
            </a:p>
            <a:p>
              <a:pPr algn="ctr">
                <a:lnSpc>
                  <a:spcPts val="1981"/>
                </a:lnSpc>
              </a:pPr>
              <a:r>
                <a:rPr lang="en-US" sz="1651" b="1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needs_ticket</a:t>
              </a:r>
            </a:p>
          </p:txBody>
        </p:sp>
      </p:grpSp>
      <p:sp>
        <p:nvSpPr>
          <p:cNvPr id="25" name="AutoShape 25"/>
          <p:cNvSpPr/>
          <p:nvPr/>
        </p:nvSpPr>
        <p:spPr>
          <a:xfrm>
            <a:off x="14258636" y="2534752"/>
            <a:ext cx="377481" cy="24154"/>
          </a:xfrm>
          <a:prstGeom prst="line">
            <a:avLst/>
          </a:prstGeom>
          <a:ln w="19050" cap="rnd">
            <a:solidFill>
              <a:srgbClr val="47556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6" name="Group 26"/>
          <p:cNvGrpSpPr/>
          <p:nvPr/>
        </p:nvGrpSpPr>
        <p:grpSpPr>
          <a:xfrm>
            <a:off x="14604663" y="1928031"/>
            <a:ext cx="1744437" cy="1227933"/>
            <a:chOff x="0" y="0"/>
            <a:chExt cx="2325916" cy="163724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325878" cy="1637218"/>
            </a:xfrm>
            <a:custGeom>
              <a:avLst/>
              <a:gdLst/>
              <a:ahLst/>
              <a:cxnLst/>
              <a:rect l="l" t="t" r="r" b="b"/>
              <a:pathLst>
                <a:path w="2325878" h="1637218">
                  <a:moveTo>
                    <a:pt x="0" y="272840"/>
                  </a:moveTo>
                  <a:cubicBezTo>
                    <a:pt x="0" y="122206"/>
                    <a:pt x="173609" y="0"/>
                    <a:pt x="387604" y="0"/>
                  </a:cubicBezTo>
                  <a:lnTo>
                    <a:pt x="1938274" y="0"/>
                  </a:lnTo>
                  <a:cubicBezTo>
                    <a:pt x="2152396" y="0"/>
                    <a:pt x="2325878" y="122206"/>
                    <a:pt x="2325878" y="272840"/>
                  </a:cubicBezTo>
                  <a:lnTo>
                    <a:pt x="2325878" y="1364378"/>
                  </a:lnTo>
                  <a:cubicBezTo>
                    <a:pt x="2325878" y="1515101"/>
                    <a:pt x="2152269" y="1637218"/>
                    <a:pt x="1938274" y="1637218"/>
                  </a:cubicBezTo>
                  <a:lnTo>
                    <a:pt x="387604" y="1637218"/>
                  </a:lnTo>
                  <a:cubicBezTo>
                    <a:pt x="173609" y="1637218"/>
                    <a:pt x="0" y="1515101"/>
                    <a:pt x="0" y="1364378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10B981"/>
              </a:solidFill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14728774" y="1986410"/>
            <a:ext cx="1496216" cy="1111176"/>
            <a:chOff x="0" y="0"/>
            <a:chExt cx="1994954" cy="148156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994951" cy="1481574"/>
            </a:xfrm>
            <a:custGeom>
              <a:avLst/>
              <a:gdLst/>
              <a:ahLst/>
              <a:cxnLst/>
              <a:rect l="l" t="t" r="r" b="b"/>
              <a:pathLst>
                <a:path w="1994951" h="1481574">
                  <a:moveTo>
                    <a:pt x="0" y="0"/>
                  </a:moveTo>
                  <a:lnTo>
                    <a:pt x="1994951" y="0"/>
                  </a:lnTo>
                  <a:lnTo>
                    <a:pt x="1994951" y="1481574"/>
                  </a:lnTo>
                  <a:lnTo>
                    <a:pt x="0" y="14815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5365" r="-85365" b="-42062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0"/>
              <a:ext cx="1994954" cy="14815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1"/>
                </a:lnSpc>
              </a:pPr>
              <a:r>
                <a:rPr lang="en-US" sz="1651" b="1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database.py</a:t>
              </a:r>
            </a:p>
            <a:p>
              <a:pPr algn="ctr">
                <a:lnSpc>
                  <a:spcPts val="1981"/>
                </a:lnSpc>
              </a:pPr>
              <a:r>
                <a:rPr lang="en-US" sz="1651" b="1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create_ticket()</a:t>
              </a:r>
            </a:p>
          </p:txBody>
        </p:sp>
      </p:grpSp>
      <p:sp>
        <p:nvSpPr>
          <p:cNvPr id="31" name="Freeform 31"/>
          <p:cNvSpPr/>
          <p:nvPr/>
        </p:nvSpPr>
        <p:spPr>
          <a:xfrm>
            <a:off x="8435864" y="3387223"/>
            <a:ext cx="8486081" cy="6377016"/>
          </a:xfrm>
          <a:custGeom>
            <a:avLst/>
            <a:gdLst/>
            <a:ahLst/>
            <a:cxnLst/>
            <a:rect l="l" t="t" r="r" b="b"/>
            <a:pathLst>
              <a:path w="8486081" h="6377016">
                <a:moveTo>
                  <a:pt x="0" y="0"/>
                </a:moveTo>
                <a:lnTo>
                  <a:pt x="8486081" y="0"/>
                </a:lnTo>
                <a:lnTo>
                  <a:pt x="8486081" y="6377016"/>
                </a:lnTo>
                <a:lnTo>
                  <a:pt x="0" y="63770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983675" y="484975"/>
            <a:ext cx="16289188" cy="800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1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APIs &amp; Automated Raise-Ticket Workflow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24861" y="1308583"/>
            <a:ext cx="16014659" cy="457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Frontend requests are routed through FastAPI; the agent can create a persistent ticket when needed.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85665" y="2324357"/>
            <a:ext cx="6337316" cy="38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1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Implemented API surface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85665" y="2788453"/>
            <a:ext cx="6309865" cy="206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POST  /api/support/request        Submit employee issue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GET   /api/support/my-tickets     Fetch employee tickets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POST  /api/admin/login             Admin authentication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GET   /api/support/tickets        Admin ticket view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PATCH /api/support/tickets/{id}   Update ticket status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GET   /api/support/audit           View audit logs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GET   /api/support/policies        View knowledge base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6288979" y="9735664"/>
            <a:ext cx="915257" cy="280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1">
                <a:solidFill>
                  <a:srgbClr val="47556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23539"/>
            <a:chOff x="0" y="0"/>
            <a:chExt cx="24402453" cy="164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64719"/>
            </a:xfrm>
            <a:custGeom>
              <a:avLst/>
              <a:gdLst/>
              <a:ahLst/>
              <a:cxnLst/>
              <a:rect l="l" t="t" r="r" b="b"/>
              <a:pathLst>
                <a:path w="24402414" h="164719">
                  <a:moveTo>
                    <a:pt x="0" y="0"/>
                  </a:moveTo>
                  <a:lnTo>
                    <a:pt x="24402414" y="0"/>
                  </a:lnTo>
                  <a:lnTo>
                    <a:pt x="24402414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983675" y="484975"/>
            <a:ext cx="16289188" cy="800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1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AI Tools &amp; Technology Stack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4861" y="1308583"/>
            <a:ext cx="16014659" cy="457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Runtime AI is intentionally simple: one LLM plus policy retrieval and structured prompting.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53719" y="2051856"/>
            <a:ext cx="3926415" cy="2553738"/>
            <a:chOff x="0" y="0"/>
            <a:chExt cx="5235219" cy="340498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235321" cy="3404997"/>
            </a:xfrm>
            <a:custGeom>
              <a:avLst/>
              <a:gdLst/>
              <a:ahLst/>
              <a:cxnLst/>
              <a:rect l="l" t="t" r="r" b="b"/>
              <a:pathLst>
                <a:path w="5235321" h="3404997">
                  <a:moveTo>
                    <a:pt x="0" y="567563"/>
                  </a:moveTo>
                  <a:cubicBezTo>
                    <a:pt x="0" y="254127"/>
                    <a:pt x="254127" y="0"/>
                    <a:pt x="567563" y="0"/>
                  </a:cubicBezTo>
                  <a:lnTo>
                    <a:pt x="4667758" y="0"/>
                  </a:lnTo>
                  <a:cubicBezTo>
                    <a:pt x="4981194" y="0"/>
                    <a:pt x="5235321" y="254127"/>
                    <a:pt x="5235321" y="567563"/>
                  </a:cubicBezTo>
                  <a:lnTo>
                    <a:pt x="5235321" y="2837434"/>
                  </a:lnTo>
                  <a:cubicBezTo>
                    <a:pt x="5235321" y="3150870"/>
                    <a:pt x="4981194" y="3404997"/>
                    <a:pt x="4667758" y="3404997"/>
                  </a:cubicBezTo>
                  <a:lnTo>
                    <a:pt x="567563" y="3404997"/>
                  </a:lnTo>
                  <a:cubicBezTo>
                    <a:pt x="254127" y="3404997"/>
                    <a:pt x="0" y="3150870"/>
                    <a:pt x="0" y="283743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960872" y="2059010"/>
            <a:ext cx="96088" cy="2539441"/>
            <a:chOff x="0" y="0"/>
            <a:chExt cx="128118" cy="338592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8143" cy="3385947"/>
            </a:xfrm>
            <a:custGeom>
              <a:avLst/>
              <a:gdLst/>
              <a:ahLst/>
              <a:cxnLst/>
              <a:rect l="l" t="t" r="r" b="b"/>
              <a:pathLst>
                <a:path w="128143" h="3385947">
                  <a:moveTo>
                    <a:pt x="0" y="0"/>
                  </a:moveTo>
                  <a:lnTo>
                    <a:pt x="128143" y="0"/>
                  </a:lnTo>
                  <a:lnTo>
                    <a:pt x="128143" y="3385947"/>
                  </a:lnTo>
                  <a:lnTo>
                    <a:pt x="0" y="3385947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354293" y="2324357"/>
            <a:ext cx="3180169" cy="38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1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Ollama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54293" y="2900877"/>
            <a:ext cx="3152718" cy="1459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LLM runtime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/api/generate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483542" y="2051856"/>
            <a:ext cx="3926415" cy="2553738"/>
            <a:chOff x="0" y="0"/>
            <a:chExt cx="5235219" cy="340498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235321" cy="3404997"/>
            </a:xfrm>
            <a:custGeom>
              <a:avLst/>
              <a:gdLst/>
              <a:ahLst/>
              <a:cxnLst/>
              <a:rect l="l" t="t" r="r" b="b"/>
              <a:pathLst>
                <a:path w="5235321" h="3404997">
                  <a:moveTo>
                    <a:pt x="0" y="567563"/>
                  </a:moveTo>
                  <a:cubicBezTo>
                    <a:pt x="0" y="254127"/>
                    <a:pt x="254127" y="0"/>
                    <a:pt x="567563" y="0"/>
                  </a:cubicBezTo>
                  <a:lnTo>
                    <a:pt x="4667758" y="0"/>
                  </a:lnTo>
                  <a:cubicBezTo>
                    <a:pt x="4981194" y="0"/>
                    <a:pt x="5235321" y="254127"/>
                    <a:pt x="5235321" y="567563"/>
                  </a:cubicBezTo>
                  <a:lnTo>
                    <a:pt x="5235321" y="2837434"/>
                  </a:lnTo>
                  <a:cubicBezTo>
                    <a:pt x="5235321" y="3150870"/>
                    <a:pt x="4981194" y="3404997"/>
                    <a:pt x="4667758" y="3404997"/>
                  </a:cubicBezTo>
                  <a:lnTo>
                    <a:pt x="567563" y="3404997"/>
                  </a:lnTo>
                  <a:cubicBezTo>
                    <a:pt x="254127" y="3404997"/>
                    <a:pt x="0" y="3150870"/>
                    <a:pt x="0" y="283743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490686" y="2059010"/>
            <a:ext cx="96088" cy="2539441"/>
            <a:chOff x="0" y="0"/>
            <a:chExt cx="128118" cy="338592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8143" cy="3385947"/>
            </a:xfrm>
            <a:custGeom>
              <a:avLst/>
              <a:gdLst/>
              <a:ahLst/>
              <a:cxnLst/>
              <a:rect l="l" t="t" r="r" b="b"/>
              <a:pathLst>
                <a:path w="128143" h="3385947">
                  <a:moveTo>
                    <a:pt x="0" y="0"/>
                  </a:moveTo>
                  <a:lnTo>
                    <a:pt x="128143" y="0"/>
                  </a:lnTo>
                  <a:lnTo>
                    <a:pt x="128143" y="3385947"/>
                  </a:lnTo>
                  <a:lnTo>
                    <a:pt x="0" y="3385947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5884116" y="2324357"/>
            <a:ext cx="3180169" cy="38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1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gpt-oss:20b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884116" y="2900877"/>
            <a:ext cx="3152718" cy="1459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Classification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Decision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Response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0013356" y="2051856"/>
            <a:ext cx="3926415" cy="2553738"/>
            <a:chOff x="0" y="0"/>
            <a:chExt cx="5235219" cy="340498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235321" cy="3404997"/>
            </a:xfrm>
            <a:custGeom>
              <a:avLst/>
              <a:gdLst/>
              <a:ahLst/>
              <a:cxnLst/>
              <a:rect l="l" t="t" r="r" b="b"/>
              <a:pathLst>
                <a:path w="5235321" h="3404997">
                  <a:moveTo>
                    <a:pt x="0" y="567563"/>
                  </a:moveTo>
                  <a:cubicBezTo>
                    <a:pt x="0" y="254127"/>
                    <a:pt x="254127" y="0"/>
                    <a:pt x="567563" y="0"/>
                  </a:cubicBezTo>
                  <a:lnTo>
                    <a:pt x="4667758" y="0"/>
                  </a:lnTo>
                  <a:cubicBezTo>
                    <a:pt x="4981194" y="0"/>
                    <a:pt x="5235321" y="254127"/>
                    <a:pt x="5235321" y="567563"/>
                  </a:cubicBezTo>
                  <a:lnTo>
                    <a:pt x="5235321" y="2837434"/>
                  </a:lnTo>
                  <a:cubicBezTo>
                    <a:pt x="5235321" y="3150870"/>
                    <a:pt x="4981194" y="3404997"/>
                    <a:pt x="4667758" y="3404997"/>
                  </a:cubicBezTo>
                  <a:lnTo>
                    <a:pt x="567563" y="3404997"/>
                  </a:lnTo>
                  <a:cubicBezTo>
                    <a:pt x="254127" y="3404997"/>
                    <a:pt x="0" y="3150870"/>
                    <a:pt x="0" y="283743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10020510" y="2059010"/>
            <a:ext cx="96088" cy="2539441"/>
            <a:chOff x="0" y="0"/>
            <a:chExt cx="128118" cy="338592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8143" cy="3385947"/>
            </a:xfrm>
            <a:custGeom>
              <a:avLst/>
              <a:gdLst/>
              <a:ahLst/>
              <a:cxnLst/>
              <a:rect l="l" t="t" r="r" b="b"/>
              <a:pathLst>
                <a:path w="128143" h="3385947">
                  <a:moveTo>
                    <a:pt x="0" y="0"/>
                  </a:moveTo>
                  <a:lnTo>
                    <a:pt x="128143" y="0"/>
                  </a:lnTo>
                  <a:lnTo>
                    <a:pt x="128143" y="3385947"/>
                  </a:lnTo>
                  <a:lnTo>
                    <a:pt x="0" y="3385947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10413940" y="2324357"/>
            <a:ext cx="3180169" cy="38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1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RAG pattern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413940" y="2900877"/>
            <a:ext cx="3152718" cy="1459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Policy grounding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via policies.json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53719" y="5552170"/>
            <a:ext cx="3926415" cy="2553738"/>
            <a:chOff x="0" y="0"/>
            <a:chExt cx="5235219" cy="340498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235321" cy="3404997"/>
            </a:xfrm>
            <a:custGeom>
              <a:avLst/>
              <a:gdLst/>
              <a:ahLst/>
              <a:cxnLst/>
              <a:rect l="l" t="t" r="r" b="b"/>
              <a:pathLst>
                <a:path w="5235321" h="3404997">
                  <a:moveTo>
                    <a:pt x="0" y="567563"/>
                  </a:moveTo>
                  <a:cubicBezTo>
                    <a:pt x="0" y="254127"/>
                    <a:pt x="254127" y="0"/>
                    <a:pt x="567563" y="0"/>
                  </a:cubicBezTo>
                  <a:lnTo>
                    <a:pt x="4667758" y="0"/>
                  </a:lnTo>
                  <a:cubicBezTo>
                    <a:pt x="4981194" y="0"/>
                    <a:pt x="5235321" y="254127"/>
                    <a:pt x="5235321" y="567563"/>
                  </a:cubicBezTo>
                  <a:lnTo>
                    <a:pt x="5235321" y="2837434"/>
                  </a:lnTo>
                  <a:cubicBezTo>
                    <a:pt x="5235321" y="3150870"/>
                    <a:pt x="4981194" y="3404997"/>
                    <a:pt x="4667758" y="3404997"/>
                  </a:cubicBezTo>
                  <a:lnTo>
                    <a:pt x="567563" y="3404997"/>
                  </a:lnTo>
                  <a:cubicBezTo>
                    <a:pt x="254127" y="3404997"/>
                    <a:pt x="0" y="3150870"/>
                    <a:pt x="0" y="283743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960872" y="5559323"/>
            <a:ext cx="96088" cy="2539441"/>
            <a:chOff x="0" y="0"/>
            <a:chExt cx="128118" cy="338592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28143" cy="3385947"/>
            </a:xfrm>
            <a:custGeom>
              <a:avLst/>
              <a:gdLst/>
              <a:ahLst/>
              <a:cxnLst/>
              <a:rect l="l" t="t" r="r" b="b"/>
              <a:pathLst>
                <a:path w="128143" h="3385947">
                  <a:moveTo>
                    <a:pt x="0" y="0"/>
                  </a:moveTo>
                  <a:lnTo>
                    <a:pt x="128143" y="0"/>
                  </a:lnTo>
                  <a:lnTo>
                    <a:pt x="128143" y="3385947"/>
                  </a:lnTo>
                  <a:lnTo>
                    <a:pt x="0" y="3385947"/>
                  </a:lnTo>
                  <a:close/>
                </a:path>
              </a:pathLst>
            </a:custGeom>
            <a:solidFill>
              <a:srgbClr val="06B6D4"/>
            </a:solidFill>
          </p:spPr>
        </p:sp>
      </p:grpSp>
      <p:sp>
        <p:nvSpPr>
          <p:cNvPr id="28" name="TextBox 28"/>
          <p:cNvSpPr txBox="1"/>
          <p:nvPr/>
        </p:nvSpPr>
        <p:spPr>
          <a:xfrm>
            <a:off x="1354293" y="5824671"/>
            <a:ext cx="3180169" cy="38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1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FastAPI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54293" y="6401191"/>
            <a:ext cx="3152718" cy="1459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REST backend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request routing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5483542" y="5552170"/>
            <a:ext cx="3926415" cy="2553738"/>
            <a:chOff x="0" y="0"/>
            <a:chExt cx="5235219" cy="340498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235321" cy="3404997"/>
            </a:xfrm>
            <a:custGeom>
              <a:avLst/>
              <a:gdLst/>
              <a:ahLst/>
              <a:cxnLst/>
              <a:rect l="l" t="t" r="r" b="b"/>
              <a:pathLst>
                <a:path w="5235321" h="3404997">
                  <a:moveTo>
                    <a:pt x="0" y="567563"/>
                  </a:moveTo>
                  <a:cubicBezTo>
                    <a:pt x="0" y="254127"/>
                    <a:pt x="254127" y="0"/>
                    <a:pt x="567563" y="0"/>
                  </a:cubicBezTo>
                  <a:lnTo>
                    <a:pt x="4667758" y="0"/>
                  </a:lnTo>
                  <a:cubicBezTo>
                    <a:pt x="4981194" y="0"/>
                    <a:pt x="5235321" y="254127"/>
                    <a:pt x="5235321" y="567563"/>
                  </a:cubicBezTo>
                  <a:lnTo>
                    <a:pt x="5235321" y="2837434"/>
                  </a:lnTo>
                  <a:cubicBezTo>
                    <a:pt x="5235321" y="3150870"/>
                    <a:pt x="4981194" y="3404997"/>
                    <a:pt x="4667758" y="3404997"/>
                  </a:cubicBezTo>
                  <a:lnTo>
                    <a:pt x="567563" y="3404997"/>
                  </a:lnTo>
                  <a:cubicBezTo>
                    <a:pt x="254127" y="3404997"/>
                    <a:pt x="0" y="3150870"/>
                    <a:pt x="0" y="283743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5490686" y="5559323"/>
            <a:ext cx="96088" cy="2539441"/>
            <a:chOff x="0" y="0"/>
            <a:chExt cx="128118" cy="338592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28143" cy="3385947"/>
            </a:xfrm>
            <a:custGeom>
              <a:avLst/>
              <a:gdLst/>
              <a:ahLst/>
              <a:cxnLst/>
              <a:rect l="l" t="t" r="r" b="b"/>
              <a:pathLst>
                <a:path w="128143" h="3385947">
                  <a:moveTo>
                    <a:pt x="0" y="0"/>
                  </a:moveTo>
                  <a:lnTo>
                    <a:pt x="128143" y="0"/>
                  </a:lnTo>
                  <a:lnTo>
                    <a:pt x="128143" y="3385947"/>
                  </a:lnTo>
                  <a:lnTo>
                    <a:pt x="0" y="3385947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sp>
        <p:nvSpPr>
          <p:cNvPr id="34" name="TextBox 34"/>
          <p:cNvSpPr txBox="1"/>
          <p:nvPr/>
        </p:nvSpPr>
        <p:spPr>
          <a:xfrm>
            <a:off x="5884116" y="5824671"/>
            <a:ext cx="3180169" cy="38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1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SQLite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884116" y="6401191"/>
            <a:ext cx="3152718" cy="1459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Tickets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Audit logs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Settings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0013356" y="5552170"/>
            <a:ext cx="3926415" cy="2553738"/>
            <a:chOff x="0" y="0"/>
            <a:chExt cx="5235219" cy="340498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235321" cy="3404997"/>
            </a:xfrm>
            <a:custGeom>
              <a:avLst/>
              <a:gdLst/>
              <a:ahLst/>
              <a:cxnLst/>
              <a:rect l="l" t="t" r="r" b="b"/>
              <a:pathLst>
                <a:path w="5235321" h="3404997">
                  <a:moveTo>
                    <a:pt x="0" y="567563"/>
                  </a:moveTo>
                  <a:cubicBezTo>
                    <a:pt x="0" y="254127"/>
                    <a:pt x="254127" y="0"/>
                    <a:pt x="567563" y="0"/>
                  </a:cubicBezTo>
                  <a:lnTo>
                    <a:pt x="4667758" y="0"/>
                  </a:lnTo>
                  <a:cubicBezTo>
                    <a:pt x="4981194" y="0"/>
                    <a:pt x="5235321" y="254127"/>
                    <a:pt x="5235321" y="567563"/>
                  </a:cubicBezTo>
                  <a:lnTo>
                    <a:pt x="5235321" y="2837434"/>
                  </a:lnTo>
                  <a:cubicBezTo>
                    <a:pt x="5235321" y="3150870"/>
                    <a:pt x="4981194" y="3404997"/>
                    <a:pt x="4667758" y="3404997"/>
                  </a:cubicBezTo>
                  <a:lnTo>
                    <a:pt x="567563" y="3404997"/>
                  </a:lnTo>
                  <a:cubicBezTo>
                    <a:pt x="254127" y="3404997"/>
                    <a:pt x="0" y="3150870"/>
                    <a:pt x="0" y="283743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10020510" y="5559323"/>
            <a:ext cx="96088" cy="2539441"/>
            <a:chOff x="0" y="0"/>
            <a:chExt cx="128118" cy="338592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28143" cy="3385947"/>
            </a:xfrm>
            <a:custGeom>
              <a:avLst/>
              <a:gdLst/>
              <a:ahLst/>
              <a:cxnLst/>
              <a:rect l="l" t="t" r="r" b="b"/>
              <a:pathLst>
                <a:path w="128143" h="3385947">
                  <a:moveTo>
                    <a:pt x="0" y="0"/>
                  </a:moveTo>
                  <a:lnTo>
                    <a:pt x="128143" y="0"/>
                  </a:lnTo>
                  <a:lnTo>
                    <a:pt x="128143" y="3385947"/>
                  </a:lnTo>
                  <a:lnTo>
                    <a:pt x="0" y="3385947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sp>
        <p:nvSpPr>
          <p:cNvPr id="40" name="TextBox 40"/>
          <p:cNvSpPr txBox="1"/>
          <p:nvPr/>
        </p:nvSpPr>
        <p:spPr>
          <a:xfrm>
            <a:off x="10413940" y="5824671"/>
            <a:ext cx="3180169" cy="38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1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bcrypt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413940" y="6401191"/>
            <a:ext cx="3152718" cy="1459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Admin password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hashing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14337278" y="2051856"/>
            <a:ext cx="2965542" cy="6054061"/>
            <a:chOff x="0" y="0"/>
            <a:chExt cx="3954056" cy="807208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3954018" cy="8071993"/>
            </a:xfrm>
            <a:custGeom>
              <a:avLst/>
              <a:gdLst/>
              <a:ahLst/>
              <a:cxnLst/>
              <a:rect l="l" t="t" r="r" b="b"/>
              <a:pathLst>
                <a:path w="3954018" h="8071993">
                  <a:moveTo>
                    <a:pt x="0" y="659003"/>
                  </a:moveTo>
                  <a:cubicBezTo>
                    <a:pt x="0" y="295021"/>
                    <a:pt x="295021" y="0"/>
                    <a:pt x="659003" y="0"/>
                  </a:cubicBezTo>
                  <a:lnTo>
                    <a:pt x="3295015" y="0"/>
                  </a:lnTo>
                  <a:cubicBezTo>
                    <a:pt x="3658997" y="0"/>
                    <a:pt x="3954018" y="295021"/>
                    <a:pt x="3954018" y="659003"/>
                  </a:cubicBezTo>
                  <a:lnTo>
                    <a:pt x="3954018" y="7412990"/>
                  </a:lnTo>
                  <a:cubicBezTo>
                    <a:pt x="3954018" y="7776972"/>
                    <a:pt x="3658997" y="8071993"/>
                    <a:pt x="3295015" y="8071993"/>
                  </a:cubicBezTo>
                  <a:lnTo>
                    <a:pt x="659003" y="8071993"/>
                  </a:lnTo>
                  <a:cubicBezTo>
                    <a:pt x="295021" y="8072120"/>
                    <a:pt x="0" y="7776972"/>
                    <a:pt x="0" y="741299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14344431" y="2059010"/>
            <a:ext cx="96088" cy="6039755"/>
            <a:chOff x="0" y="0"/>
            <a:chExt cx="128118" cy="8053006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28143" cy="8053070"/>
            </a:xfrm>
            <a:custGeom>
              <a:avLst/>
              <a:gdLst/>
              <a:ahLst/>
              <a:cxnLst/>
              <a:rect l="l" t="t" r="r" b="b"/>
              <a:pathLst>
                <a:path w="128143" h="8053070">
                  <a:moveTo>
                    <a:pt x="0" y="0"/>
                  </a:moveTo>
                  <a:lnTo>
                    <a:pt x="128143" y="0"/>
                  </a:lnTo>
                  <a:lnTo>
                    <a:pt x="128143" y="8053070"/>
                  </a:lnTo>
                  <a:lnTo>
                    <a:pt x="0" y="805307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sp>
        <p:nvSpPr>
          <p:cNvPr id="46" name="TextBox 46"/>
          <p:cNvSpPr txBox="1"/>
          <p:nvPr/>
        </p:nvSpPr>
        <p:spPr>
          <a:xfrm>
            <a:off x="14737852" y="2324357"/>
            <a:ext cx="2219296" cy="38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1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AI usage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4737852" y="2900877"/>
            <a:ext cx="2191845" cy="4959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Classification</a:t>
            </a:r>
          </a:p>
          <a:p>
            <a:pPr algn="l">
              <a:lnSpc>
                <a:spcPts val="2071"/>
              </a:lnSpc>
            </a:pPr>
            <a:endParaRPr lang="en-US" sz="1726">
              <a:solidFill>
                <a:srgbClr val="475569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Decision reasoning</a:t>
            </a:r>
          </a:p>
          <a:p>
            <a:pPr algn="l">
              <a:lnSpc>
                <a:spcPts val="2071"/>
              </a:lnSpc>
            </a:pPr>
            <a:endParaRPr lang="en-US" sz="1726">
              <a:solidFill>
                <a:srgbClr val="475569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Response generation</a:t>
            </a:r>
          </a:p>
          <a:p>
            <a:pPr algn="l">
              <a:lnSpc>
                <a:spcPts val="2071"/>
              </a:lnSpc>
            </a:pPr>
            <a:endParaRPr lang="en-US" sz="1726">
              <a:solidFill>
                <a:srgbClr val="475569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JSON-formatted outputs</a:t>
            </a:r>
          </a:p>
          <a:p>
            <a:pPr algn="l">
              <a:lnSpc>
                <a:spcPts val="2071"/>
              </a:lnSpc>
            </a:pPr>
            <a:endParaRPr lang="en-US" sz="1726">
              <a:solidFill>
                <a:srgbClr val="475569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Policy context supplied to the model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6288979" y="9735664"/>
            <a:ext cx="915257" cy="280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1">
                <a:solidFill>
                  <a:srgbClr val="47556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23539"/>
            <a:chOff x="0" y="0"/>
            <a:chExt cx="24402453" cy="164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64719"/>
            </a:xfrm>
            <a:custGeom>
              <a:avLst/>
              <a:gdLst/>
              <a:ahLst/>
              <a:cxnLst/>
              <a:rect l="l" t="t" r="r" b="b"/>
              <a:pathLst>
                <a:path w="24402414" h="164719">
                  <a:moveTo>
                    <a:pt x="0" y="0"/>
                  </a:moveTo>
                  <a:lnTo>
                    <a:pt x="24402414" y="0"/>
                  </a:lnTo>
                  <a:lnTo>
                    <a:pt x="24402414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1072576" y="1913049"/>
            <a:ext cx="15216403" cy="7634062"/>
          </a:xfrm>
          <a:custGeom>
            <a:avLst/>
            <a:gdLst/>
            <a:ahLst/>
            <a:cxnLst/>
            <a:rect l="l" t="t" r="r" b="b"/>
            <a:pathLst>
              <a:path w="15216403" h="7634062">
                <a:moveTo>
                  <a:pt x="0" y="0"/>
                </a:moveTo>
                <a:lnTo>
                  <a:pt x="15216403" y="0"/>
                </a:lnTo>
                <a:lnTo>
                  <a:pt x="15216403" y="7634062"/>
                </a:lnTo>
                <a:lnTo>
                  <a:pt x="0" y="76340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887557" y="506496"/>
            <a:ext cx="16289188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1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Admin Panel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288979" y="9735664"/>
            <a:ext cx="915257" cy="280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1">
                <a:solidFill>
                  <a:srgbClr val="47556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23539"/>
            <a:chOff x="0" y="0"/>
            <a:chExt cx="24402453" cy="164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64719"/>
            </a:xfrm>
            <a:custGeom>
              <a:avLst/>
              <a:gdLst/>
              <a:ahLst/>
              <a:cxnLst/>
              <a:rect l="l" t="t" r="r" b="b"/>
              <a:pathLst>
                <a:path w="24402414" h="164719">
                  <a:moveTo>
                    <a:pt x="0" y="0"/>
                  </a:moveTo>
                  <a:lnTo>
                    <a:pt x="24402414" y="0"/>
                  </a:lnTo>
                  <a:lnTo>
                    <a:pt x="24402414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983675" y="484975"/>
            <a:ext cx="16289188" cy="800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1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Implementation Summary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4861" y="1308583"/>
            <a:ext cx="16014659" cy="457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A compact, testable IT support agent with grounded policy retrieval and auditable ticket handling.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53719" y="2257758"/>
            <a:ext cx="3857777" cy="2347846"/>
            <a:chOff x="0" y="0"/>
            <a:chExt cx="5143703" cy="313046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43627" cy="3130423"/>
            </a:xfrm>
            <a:custGeom>
              <a:avLst/>
              <a:gdLst/>
              <a:ahLst/>
              <a:cxnLst/>
              <a:rect l="l" t="t" r="r" b="b"/>
              <a:pathLst>
                <a:path w="5143627" h="3130423">
                  <a:moveTo>
                    <a:pt x="0" y="521716"/>
                  </a:moveTo>
                  <a:cubicBezTo>
                    <a:pt x="0" y="233553"/>
                    <a:pt x="233553" y="0"/>
                    <a:pt x="521716" y="0"/>
                  </a:cubicBezTo>
                  <a:lnTo>
                    <a:pt x="4621911" y="0"/>
                  </a:lnTo>
                  <a:cubicBezTo>
                    <a:pt x="4910074" y="0"/>
                    <a:pt x="5143627" y="233553"/>
                    <a:pt x="5143627" y="521716"/>
                  </a:cubicBezTo>
                  <a:lnTo>
                    <a:pt x="5143627" y="2608707"/>
                  </a:lnTo>
                  <a:cubicBezTo>
                    <a:pt x="5143627" y="2896870"/>
                    <a:pt x="4910074" y="3130423"/>
                    <a:pt x="4621911" y="3130423"/>
                  </a:cubicBezTo>
                  <a:lnTo>
                    <a:pt x="521716" y="3130423"/>
                  </a:lnTo>
                  <a:cubicBezTo>
                    <a:pt x="233553" y="3130423"/>
                    <a:pt x="0" y="2896870"/>
                    <a:pt x="0" y="2608707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960872" y="2264912"/>
            <a:ext cx="96088" cy="2333539"/>
            <a:chOff x="0" y="0"/>
            <a:chExt cx="128118" cy="311138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8143" cy="3111373"/>
            </a:xfrm>
            <a:custGeom>
              <a:avLst/>
              <a:gdLst/>
              <a:ahLst/>
              <a:cxnLst/>
              <a:rect l="l" t="t" r="r" b="b"/>
              <a:pathLst>
                <a:path w="128143" h="3111373">
                  <a:moveTo>
                    <a:pt x="0" y="0"/>
                  </a:moveTo>
                  <a:lnTo>
                    <a:pt x="128143" y="0"/>
                  </a:lnTo>
                  <a:lnTo>
                    <a:pt x="128143" y="3111373"/>
                  </a:lnTo>
                  <a:lnTo>
                    <a:pt x="0" y="3111373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354293" y="2520734"/>
            <a:ext cx="3111532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WORKING AGENT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54293" y="3106779"/>
            <a:ext cx="3084081" cy="1253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Classify → retrieve → decide → respond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181552" y="2257758"/>
            <a:ext cx="3857777" cy="2347846"/>
            <a:chOff x="0" y="0"/>
            <a:chExt cx="5143703" cy="313046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143627" cy="3130423"/>
            </a:xfrm>
            <a:custGeom>
              <a:avLst/>
              <a:gdLst/>
              <a:ahLst/>
              <a:cxnLst/>
              <a:rect l="l" t="t" r="r" b="b"/>
              <a:pathLst>
                <a:path w="5143627" h="3130423">
                  <a:moveTo>
                    <a:pt x="0" y="521716"/>
                  </a:moveTo>
                  <a:cubicBezTo>
                    <a:pt x="0" y="233553"/>
                    <a:pt x="233553" y="0"/>
                    <a:pt x="521716" y="0"/>
                  </a:cubicBezTo>
                  <a:lnTo>
                    <a:pt x="4621911" y="0"/>
                  </a:lnTo>
                  <a:cubicBezTo>
                    <a:pt x="4910074" y="0"/>
                    <a:pt x="5143627" y="233553"/>
                    <a:pt x="5143627" y="521716"/>
                  </a:cubicBezTo>
                  <a:lnTo>
                    <a:pt x="5143627" y="2608707"/>
                  </a:lnTo>
                  <a:cubicBezTo>
                    <a:pt x="5143627" y="2896870"/>
                    <a:pt x="4910074" y="3130423"/>
                    <a:pt x="4621911" y="3130423"/>
                  </a:cubicBezTo>
                  <a:lnTo>
                    <a:pt x="521716" y="3130423"/>
                  </a:lnTo>
                  <a:cubicBezTo>
                    <a:pt x="233553" y="3130423"/>
                    <a:pt x="0" y="2896870"/>
                    <a:pt x="0" y="2608707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188706" y="2264912"/>
            <a:ext cx="96088" cy="2333539"/>
            <a:chOff x="0" y="0"/>
            <a:chExt cx="128118" cy="311138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8143" cy="3111373"/>
            </a:xfrm>
            <a:custGeom>
              <a:avLst/>
              <a:gdLst/>
              <a:ahLst/>
              <a:cxnLst/>
              <a:rect l="l" t="t" r="r" b="b"/>
              <a:pathLst>
                <a:path w="128143" h="3111373">
                  <a:moveTo>
                    <a:pt x="0" y="0"/>
                  </a:moveTo>
                  <a:lnTo>
                    <a:pt x="128143" y="0"/>
                  </a:lnTo>
                  <a:lnTo>
                    <a:pt x="128143" y="3111373"/>
                  </a:lnTo>
                  <a:lnTo>
                    <a:pt x="0" y="3111373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5582126" y="2520734"/>
            <a:ext cx="3111532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GROUNDED SOURCES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582126" y="3106779"/>
            <a:ext cx="3084081" cy="1253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policies.json + historical ticket context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409386" y="2257758"/>
            <a:ext cx="3857777" cy="2347846"/>
            <a:chOff x="0" y="0"/>
            <a:chExt cx="5143703" cy="313046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143627" cy="3130423"/>
            </a:xfrm>
            <a:custGeom>
              <a:avLst/>
              <a:gdLst/>
              <a:ahLst/>
              <a:cxnLst/>
              <a:rect l="l" t="t" r="r" b="b"/>
              <a:pathLst>
                <a:path w="5143627" h="3130423">
                  <a:moveTo>
                    <a:pt x="0" y="521716"/>
                  </a:moveTo>
                  <a:cubicBezTo>
                    <a:pt x="0" y="233553"/>
                    <a:pt x="233553" y="0"/>
                    <a:pt x="521716" y="0"/>
                  </a:cubicBezTo>
                  <a:lnTo>
                    <a:pt x="4621911" y="0"/>
                  </a:lnTo>
                  <a:cubicBezTo>
                    <a:pt x="4910074" y="0"/>
                    <a:pt x="5143627" y="233553"/>
                    <a:pt x="5143627" y="521716"/>
                  </a:cubicBezTo>
                  <a:lnTo>
                    <a:pt x="5143627" y="2608707"/>
                  </a:lnTo>
                  <a:cubicBezTo>
                    <a:pt x="5143627" y="2896870"/>
                    <a:pt x="4910074" y="3130423"/>
                    <a:pt x="4621911" y="3130423"/>
                  </a:cubicBezTo>
                  <a:lnTo>
                    <a:pt x="521716" y="3130423"/>
                  </a:lnTo>
                  <a:cubicBezTo>
                    <a:pt x="233553" y="3130423"/>
                    <a:pt x="0" y="2896870"/>
                    <a:pt x="0" y="2608707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9416529" y="2264912"/>
            <a:ext cx="96088" cy="2333539"/>
            <a:chOff x="0" y="0"/>
            <a:chExt cx="128118" cy="311138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8143" cy="3111373"/>
            </a:xfrm>
            <a:custGeom>
              <a:avLst/>
              <a:gdLst/>
              <a:ahLst/>
              <a:cxnLst/>
              <a:rect l="l" t="t" r="r" b="b"/>
              <a:pathLst>
                <a:path w="128143" h="3111373">
                  <a:moveTo>
                    <a:pt x="0" y="0"/>
                  </a:moveTo>
                  <a:lnTo>
                    <a:pt x="128143" y="0"/>
                  </a:lnTo>
                  <a:lnTo>
                    <a:pt x="128143" y="3111373"/>
                  </a:lnTo>
                  <a:lnTo>
                    <a:pt x="0" y="3111373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9809959" y="2520734"/>
            <a:ext cx="3111532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AUTOMATED TICKETING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809959" y="3106779"/>
            <a:ext cx="3084081" cy="1253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needs_ticket → SQLite AUTO-XXX ticket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3637219" y="2257758"/>
            <a:ext cx="3857777" cy="2347846"/>
            <a:chOff x="0" y="0"/>
            <a:chExt cx="5143703" cy="313046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143627" cy="3130423"/>
            </a:xfrm>
            <a:custGeom>
              <a:avLst/>
              <a:gdLst/>
              <a:ahLst/>
              <a:cxnLst/>
              <a:rect l="l" t="t" r="r" b="b"/>
              <a:pathLst>
                <a:path w="5143627" h="3130423">
                  <a:moveTo>
                    <a:pt x="0" y="521716"/>
                  </a:moveTo>
                  <a:cubicBezTo>
                    <a:pt x="0" y="233553"/>
                    <a:pt x="233553" y="0"/>
                    <a:pt x="521716" y="0"/>
                  </a:cubicBezTo>
                  <a:lnTo>
                    <a:pt x="4621911" y="0"/>
                  </a:lnTo>
                  <a:cubicBezTo>
                    <a:pt x="4910074" y="0"/>
                    <a:pt x="5143627" y="233553"/>
                    <a:pt x="5143627" y="521716"/>
                  </a:cubicBezTo>
                  <a:lnTo>
                    <a:pt x="5143627" y="2608707"/>
                  </a:lnTo>
                  <a:cubicBezTo>
                    <a:pt x="5143627" y="2896870"/>
                    <a:pt x="4910074" y="3130423"/>
                    <a:pt x="4621911" y="3130423"/>
                  </a:cubicBezTo>
                  <a:lnTo>
                    <a:pt x="521716" y="3130423"/>
                  </a:lnTo>
                  <a:cubicBezTo>
                    <a:pt x="233553" y="3130423"/>
                    <a:pt x="0" y="2896870"/>
                    <a:pt x="0" y="2608707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13644362" y="2264912"/>
            <a:ext cx="96088" cy="2333539"/>
            <a:chOff x="0" y="0"/>
            <a:chExt cx="128118" cy="311138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28143" cy="3111373"/>
            </a:xfrm>
            <a:custGeom>
              <a:avLst/>
              <a:gdLst/>
              <a:ahLst/>
              <a:cxnLst/>
              <a:rect l="l" t="t" r="r" b="b"/>
              <a:pathLst>
                <a:path w="128143" h="3111373">
                  <a:moveTo>
                    <a:pt x="0" y="0"/>
                  </a:moveTo>
                  <a:lnTo>
                    <a:pt x="128143" y="0"/>
                  </a:lnTo>
                  <a:lnTo>
                    <a:pt x="128143" y="3111373"/>
                  </a:lnTo>
                  <a:lnTo>
                    <a:pt x="0" y="3111373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sp>
        <p:nvSpPr>
          <p:cNvPr id="28" name="TextBox 28"/>
          <p:cNvSpPr txBox="1"/>
          <p:nvPr/>
        </p:nvSpPr>
        <p:spPr>
          <a:xfrm>
            <a:off x="14037793" y="2520734"/>
            <a:ext cx="3111532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HUMAN OVERSIGHT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037793" y="3106779"/>
            <a:ext cx="3084081" cy="1253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Admin dashboard + status updates + audit logs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953719" y="5277641"/>
            <a:ext cx="7975797" cy="2279209"/>
            <a:chOff x="0" y="0"/>
            <a:chExt cx="10634396" cy="303894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634345" cy="3038856"/>
            </a:xfrm>
            <a:custGeom>
              <a:avLst/>
              <a:gdLst/>
              <a:ahLst/>
              <a:cxnLst/>
              <a:rect l="l" t="t" r="r" b="b"/>
              <a:pathLst>
                <a:path w="10634345" h="3038856">
                  <a:moveTo>
                    <a:pt x="0" y="506476"/>
                  </a:moveTo>
                  <a:cubicBezTo>
                    <a:pt x="0" y="226822"/>
                    <a:pt x="226822" y="0"/>
                    <a:pt x="506476" y="0"/>
                  </a:cubicBezTo>
                  <a:lnTo>
                    <a:pt x="10127869" y="0"/>
                  </a:lnTo>
                  <a:cubicBezTo>
                    <a:pt x="10407650" y="0"/>
                    <a:pt x="10634345" y="226822"/>
                    <a:pt x="10634345" y="506476"/>
                  </a:cubicBezTo>
                  <a:lnTo>
                    <a:pt x="10634345" y="2532380"/>
                  </a:lnTo>
                  <a:cubicBezTo>
                    <a:pt x="10634345" y="2812161"/>
                    <a:pt x="10407523" y="3038856"/>
                    <a:pt x="10127869" y="3038856"/>
                  </a:cubicBezTo>
                  <a:lnTo>
                    <a:pt x="506476" y="3038856"/>
                  </a:lnTo>
                  <a:cubicBezTo>
                    <a:pt x="226822" y="3038983"/>
                    <a:pt x="0" y="2812161"/>
                    <a:pt x="0" y="25323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960872" y="5284784"/>
            <a:ext cx="96088" cy="2264912"/>
            <a:chOff x="0" y="0"/>
            <a:chExt cx="128118" cy="301988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28143" cy="3019933"/>
            </a:xfrm>
            <a:custGeom>
              <a:avLst/>
              <a:gdLst/>
              <a:ahLst/>
              <a:cxnLst/>
              <a:rect l="l" t="t" r="r" b="b"/>
              <a:pathLst>
                <a:path w="128143" h="3019933">
                  <a:moveTo>
                    <a:pt x="0" y="0"/>
                  </a:moveTo>
                  <a:lnTo>
                    <a:pt x="128143" y="0"/>
                  </a:lnTo>
                  <a:lnTo>
                    <a:pt x="128143" y="3019933"/>
                  </a:lnTo>
                  <a:lnTo>
                    <a:pt x="0" y="3019933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id="34" name="TextBox 34"/>
          <p:cNvSpPr txBox="1"/>
          <p:nvPr/>
        </p:nvSpPr>
        <p:spPr>
          <a:xfrm>
            <a:off x="1354293" y="5550132"/>
            <a:ext cx="7229551" cy="38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1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Assignment coverage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54293" y="6088561"/>
            <a:ext cx="7202100" cy="1223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✓ Working/clickable prototype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✓ Architecture &amp; process flow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✓ Inputs, sources &amp; assumptions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✓ AI tools and how they are used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9258386" y="5277641"/>
            <a:ext cx="7975797" cy="2279209"/>
            <a:chOff x="0" y="0"/>
            <a:chExt cx="10634396" cy="3038945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0634345" cy="3038856"/>
            </a:xfrm>
            <a:custGeom>
              <a:avLst/>
              <a:gdLst/>
              <a:ahLst/>
              <a:cxnLst/>
              <a:rect l="l" t="t" r="r" b="b"/>
              <a:pathLst>
                <a:path w="10634345" h="3038856">
                  <a:moveTo>
                    <a:pt x="0" y="506476"/>
                  </a:moveTo>
                  <a:cubicBezTo>
                    <a:pt x="0" y="226822"/>
                    <a:pt x="226822" y="0"/>
                    <a:pt x="506476" y="0"/>
                  </a:cubicBezTo>
                  <a:lnTo>
                    <a:pt x="10127869" y="0"/>
                  </a:lnTo>
                  <a:cubicBezTo>
                    <a:pt x="10407650" y="0"/>
                    <a:pt x="10634345" y="226822"/>
                    <a:pt x="10634345" y="506476"/>
                  </a:cubicBezTo>
                  <a:lnTo>
                    <a:pt x="10634345" y="2532380"/>
                  </a:lnTo>
                  <a:cubicBezTo>
                    <a:pt x="10634345" y="2812161"/>
                    <a:pt x="10407523" y="3038856"/>
                    <a:pt x="10127869" y="3038856"/>
                  </a:cubicBezTo>
                  <a:lnTo>
                    <a:pt x="506476" y="3038856"/>
                  </a:lnTo>
                  <a:cubicBezTo>
                    <a:pt x="226822" y="3038983"/>
                    <a:pt x="0" y="2812161"/>
                    <a:pt x="0" y="25323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9265539" y="5284784"/>
            <a:ext cx="96088" cy="2264912"/>
            <a:chOff x="0" y="0"/>
            <a:chExt cx="128118" cy="301988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28143" cy="3019933"/>
            </a:xfrm>
            <a:custGeom>
              <a:avLst/>
              <a:gdLst/>
              <a:ahLst/>
              <a:cxnLst/>
              <a:rect l="l" t="t" r="r" b="b"/>
              <a:pathLst>
                <a:path w="128143" h="3019933">
                  <a:moveTo>
                    <a:pt x="0" y="0"/>
                  </a:moveTo>
                  <a:lnTo>
                    <a:pt x="128143" y="0"/>
                  </a:lnTo>
                  <a:lnTo>
                    <a:pt x="128143" y="3019933"/>
                  </a:lnTo>
                  <a:lnTo>
                    <a:pt x="0" y="3019933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sp>
        <p:nvSpPr>
          <p:cNvPr id="40" name="TextBox 40"/>
          <p:cNvSpPr txBox="1"/>
          <p:nvPr/>
        </p:nvSpPr>
        <p:spPr>
          <a:xfrm>
            <a:off x="9658969" y="5550132"/>
            <a:ext cx="7229551" cy="38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1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Core implementation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658969" y="6126661"/>
            <a:ext cx="7202100" cy="1185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Frontend: HTML/CSS/JS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Backend: FastAPI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AI: Ollama + gpt-oss:20b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Data: policies.json + SQLite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475569"/>
                </a:solidFill>
                <a:latin typeface="Aptos"/>
                <a:ea typeface="Aptos"/>
                <a:cs typeface="Aptos"/>
                <a:sym typeface="Aptos"/>
              </a:rPr>
              <a:t>Security: bcrypt + Bearer admin sessions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89577" y="8419024"/>
            <a:ext cx="15877384" cy="800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1">
                <a:solidFill>
                  <a:srgbClr val="0F172A"/>
                </a:solidFill>
                <a:latin typeface="Aptos Bold"/>
                <a:ea typeface="Aptos Bold"/>
                <a:cs typeface="Aptos Bold"/>
                <a:sym typeface="Aptos Bold"/>
              </a:rPr>
              <a:t>Key principle: policy-grounded automation with a clear route to human review.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6288979" y="9735664"/>
            <a:ext cx="915257" cy="280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1">
                <a:solidFill>
                  <a:srgbClr val="47556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886</Words>
  <Application>Microsoft Office PowerPoint</Application>
  <PresentationFormat>Custom</PresentationFormat>
  <Paragraphs>203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Calibri</vt:lpstr>
      <vt:lpstr>Aptos Bold</vt:lpstr>
      <vt:lpstr>Calibri (MS) Bold</vt:lpstr>
      <vt:lpstr>Aptos</vt:lpstr>
      <vt:lpstr>Calibri (MS)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23CSU220_Nishant_Rajora.pptx</dc:title>
  <cp:lastModifiedBy>Nishant Rajora</cp:lastModifiedBy>
  <cp:revision>2</cp:revision>
  <dcterms:created xsi:type="dcterms:W3CDTF">2006-08-16T00:00:00Z</dcterms:created>
  <dcterms:modified xsi:type="dcterms:W3CDTF">2026-09-17T14:16:57Z</dcterms:modified>
  <dc:identifier>DAHVdJNa6RY</dc:identifier>
</cp:coreProperties>
</file>